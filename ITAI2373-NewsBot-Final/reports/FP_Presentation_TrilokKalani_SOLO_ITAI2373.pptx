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Hi, I am Trilok Kalani, and this is my ITAI 2373 final project, NewsBot Intelligence System 2.0. I completed it as an individual (SOLO) project. For the midterm I built an end-to-end news analysis pipeline in a single notebook. For the final I rebuilt it into a modular, production-style system and added four advanced modules plus a web front end that is live online.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Organizations are buried in news and need to know, within minutes, what is being said about them, whether the tone is turning, and who is being named. Reading feeds by hand does not scale, and keyword alerts miss context. NewsBot turns raw article text into structured intelligence: category with confidence, sentiment and emotion, named entities, a summary, discovered topics, semantic search, and a conversational interface, all reachable from a browser.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biggest change from the midterm is structure. The midterm was one long notebook. The final is a Python package where every capability is its own small class under the source folder, so I can test each part alone and reuse it from the notebooks, the tests, and the web app. That refactor is what made the four new modules possible.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Raw article text enters a thin facade called NewsBot that handles classification, sentiment, and entities. The four modules sit on top, and the Flask web app is a presentation layer over the same components. The design rule is parse and vectorize once, then reuse. The classifier owns the TF-IDF vectorizer, while search and topic modeling keep their own, tuned for recall.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Module A is advanced content analysis. Classification returns the category, a confidence score, the runner-up, and how many words it recognized, and it returns 'uncertain' on empty or out-of-scope input instead of guessing. It also does sentiment with an emotion label, named entity recognition with a domain rule layer, and topic modeling with both LDA and NMF.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Module B is language understanding and generation. Summarization is extractive by default, ranking sentences by TF-IDF importance, with an optional transformer summarizer behind a flag. Semantic search ranks the whole corpus by meaning rather than keywords, with an optional dense embedding backend. There is also content enhancement and WordNet query expansion. The theme is a light default that runs anywhere, with a heavier upgrade one flag away.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Module C is multilingual intelligence. It detects the language, translates the text to English, and then runs the same pipeline I already trust, so a Spanish or French article gets the same classification, sentiment, and entities as an English one. Translating into English is the honest choice with these tools rather than pretending English-trained models read every language.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Module D is the conversational interface, and it is the piece I am most proud of because it ties everything together. An intent classifier reads a plain question like 'what is the sentiment' and a query processor routes it to the right module and formats the answer. It works because each capability is a clean class the router can call. The six intents are classify, sentiment, entities, summarize, search, and topics.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bonus web front end, and it is live online at the GitHub Pages link in the README. It has three panels: Analyze an article returns category, sentiment, entities, and a summary; Ask NewsBot answers a plain question about that article; and Find similar articles searches the corpus by meaning. It is the same module code exposed in a browser so a non-technical user can use the system.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four fresh June 2026 articles, one per beat, the system classifies all of them correctly with high confidence: technology as tech, the markets story as business, the World Cup story as sport at 96 percent, and the UK politics story as politics at 97 percent, each with its sentiment and emotion. Short off-topic input returns 'uncertain' rather than a forced label. These are the model's real outputs.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topics the model discovered with LDA, learned with no labels at all. After removing English stopwords they line up cleanly with the five news beats: sport, entertainment, tech, business, and politics. That is a good sign the unsupervised side is finding real structure rather than noise.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classification foundation reaches about 97.5 percent test accuracy on the five BBC categories, with Linear SVM best and all four models above 94 percent. The only real confusions are a few politics and business articles that share vocabulary such as tax and economy.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the real world this maps onto media intelligence. A communications team can flag every article that mentions them and get warned when the tone turns negative. Investor relations can track how a company or sector is covered. Media teams can cluster a day's coverage into topics, and the multilingual layer extends all of this to non-English sources.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tried to be honest about the limits. The model is trained on 2004 to 2005 BBC news, so it is weaker on messy present-day text. The lexicon sentiment misreads financial framing and can score a profit warning as positive. The small spaCy model makes occasional entity errors, and translation needs a network connection. Stating the limits plainly is the point, because trustworthy tooling depends on knowing where it is wrong.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I keep building on this, the first change is replacing the lexicon sentiment with a finance-tuned model like FinBERT. After that I would fine-tune the entity recognizer on recent news, add topic modeling over time, and expand the deployment with batch upload and caching. Everything is on my GitHub with a live demo link in the README. Thank you.</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097280"/>
            <a:ext cx="4114800" cy="4114800"/>
          </a:xfrm>
          <a:prstGeom prst="ellipse">
            <a:avLst/>
          </a:prstGeom>
          <a:solidFill>
            <a:srgbClr val="27306E"/>
          </a:solidFill>
          <a:ln/>
        </p:spPr>
      </p:sp>
      <p:sp>
        <p:nvSpPr>
          <p:cNvPr id="3" name="Shape 1"/>
          <p:cNvSpPr/>
          <p:nvPr/>
        </p:nvSpPr>
        <p:spPr>
          <a:xfrm>
            <a:off x="10607040" y="4297680"/>
            <a:ext cx="2926080" cy="2926080"/>
          </a:xfrm>
          <a:prstGeom prst="ellipse">
            <a:avLst/>
          </a:prstGeom>
          <a:solidFill>
            <a:srgbClr val="27306E"/>
          </a:solidFill>
          <a:ln/>
        </p:spPr>
      </p:sp>
      <p:sp>
        <p:nvSpPr>
          <p:cNvPr id="4" name="Text 2"/>
          <p:cNvSpPr/>
          <p:nvPr/>
        </p:nvSpPr>
        <p:spPr>
          <a:xfrm>
            <a:off x="731520" y="2286000"/>
            <a:ext cx="10058400"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NewsBot Intelligence System 2.0</a:t>
            </a:r>
            <a:endParaRPr lang="en-US" sz="4000" dirty="0"/>
          </a:p>
        </p:txBody>
      </p:sp>
      <p:sp>
        <p:nvSpPr>
          <p:cNvPr id="5" name="Text 3"/>
          <p:cNvSpPr/>
          <p:nvPr/>
        </p:nvSpPr>
        <p:spPr>
          <a:xfrm>
            <a:off x="749808" y="3291840"/>
            <a:ext cx="10058400" cy="54864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Advanced NLP Integration and Analysis Platform</a:t>
            </a:r>
            <a:endParaRPr lang="en-US" sz="1900" dirty="0"/>
          </a:p>
        </p:txBody>
      </p:sp>
      <p:sp>
        <p:nvSpPr>
          <p:cNvPr id="6" name="Text 4"/>
          <p:cNvSpPr/>
          <p:nvPr/>
        </p:nvSpPr>
        <p:spPr>
          <a:xfrm>
            <a:off x="749808" y="4114800"/>
            <a:ext cx="10515600" cy="4572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Trilok Kalani   |   ITAI 2373 Natural Language Processing   |   Final Project   |   Group: SOLO</a:t>
            </a:r>
            <a:endParaRPr lang="en-US" sz="1300" dirty="0"/>
          </a:p>
        </p:txBody>
      </p:sp>
      <p:sp>
        <p:nvSpPr>
          <p:cNvPr id="7" name="Text 5"/>
          <p:cNvSpPr/>
          <p:nvPr/>
        </p:nvSpPr>
        <p:spPr>
          <a:xfrm>
            <a:off x="749808" y="4526280"/>
            <a:ext cx="10058400" cy="365760"/>
          </a:xfrm>
          <a:prstGeom prst="rect">
            <a:avLst/>
          </a:prstGeom>
          <a:noFill/>
          <a:ln/>
        </p:spPr>
        <p:txBody>
          <a:bodyPr wrap="square" lIns="0" tIns="0" rIns="0" bIns="0" rtlCol="0" anchor="ctr"/>
          <a:lstStyle/>
          <a:p>
            <a:pPr indent="0" marL="0">
              <a:buNone/>
            </a:pPr>
            <a:r>
              <a:rPr lang="en-US" sz="1200" dirty="0">
                <a:solidFill>
                  <a:srgbClr val="F97316"/>
                </a:solidFill>
                <a:latin typeface="Calibri" pitchFamily="34" charset="0"/>
                <a:ea typeface="Calibri" pitchFamily="34" charset="-122"/>
                <a:cs typeface="Calibri" pitchFamily="34" charset="-120"/>
              </a:rPr>
              <a:t>github.com/Tikskalani/ITAI2373-Portfolio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The problem, and what NewsBot does</a:t>
            </a:r>
            <a:endParaRPr lang="en-US" sz="3000" dirty="0"/>
          </a:p>
        </p:txBody>
      </p:sp>
      <p:sp>
        <p:nvSpPr>
          <p:cNvPr id="3" name="Shape 1"/>
          <p:cNvSpPr/>
          <p:nvPr/>
        </p:nvSpPr>
        <p:spPr>
          <a:xfrm>
            <a:off x="548640" y="1554480"/>
            <a:ext cx="5486400" cy="4480560"/>
          </a:xfrm>
          <a:prstGeom prst="roundRect">
            <a:avLst>
              <a:gd name="adj" fmla="val 1633"/>
            </a:avLst>
          </a:prstGeom>
          <a:solidFill>
            <a:srgbClr val="F4F6FA"/>
          </a:solidFill>
          <a:ln w="9525">
            <a:solidFill>
              <a:srgbClr val="D9DEE8"/>
            </a:solidFill>
            <a:prstDash val="solid"/>
          </a:ln>
        </p:spPr>
      </p:sp>
      <p:sp>
        <p:nvSpPr>
          <p:cNvPr id="4" name="Text 2"/>
          <p:cNvSpPr/>
          <p:nvPr/>
        </p:nvSpPr>
        <p:spPr>
          <a:xfrm>
            <a:off x="731520" y="1691640"/>
            <a:ext cx="512064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The problem</a:t>
            </a:r>
            <a:endParaRPr lang="en-US" sz="1450" dirty="0"/>
          </a:p>
        </p:txBody>
      </p:sp>
      <p:sp>
        <p:nvSpPr>
          <p:cNvPr id="5" name="Text 3"/>
          <p:cNvSpPr/>
          <p:nvPr/>
        </p:nvSpPr>
        <p:spPr>
          <a:xfrm>
            <a:off x="731520" y="2121408"/>
            <a:ext cx="5120640" cy="379476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Organizations are buried in news. Communications and analyst teams need to know within minutes what is being said about them, whether the tone is turning, and who is being named.</a:t>
            </a:r>
            <a:endParaRPr lang="en-US" sz="1150" dirty="0"/>
          </a:p>
          <a:p>
            <a:pPr algn="l" indent="0" marL="0">
              <a:lnSpc>
                <a:spcPct val="105000"/>
              </a:lnSpc>
              <a:buNone/>
            </a:pP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Reading feeds by hand does not scale. Keyword alerts miss context: they cannot tell a positive story from a negative one, cannot group related coverage, and cannot answer a plain question.</a:t>
            </a:r>
            <a:endParaRPr lang="en-US" sz="1150" dirty="0"/>
          </a:p>
        </p:txBody>
      </p:sp>
      <p:sp>
        <p:nvSpPr>
          <p:cNvPr id="6" name="Shape 4"/>
          <p:cNvSpPr/>
          <p:nvPr/>
        </p:nvSpPr>
        <p:spPr>
          <a:xfrm>
            <a:off x="6309360" y="1554480"/>
            <a:ext cx="5303520" cy="4480560"/>
          </a:xfrm>
          <a:prstGeom prst="roundRect">
            <a:avLst>
              <a:gd name="adj" fmla="val 1633"/>
            </a:avLst>
          </a:prstGeom>
          <a:solidFill>
            <a:srgbClr val="EEF3FB"/>
          </a:solidFill>
          <a:ln w="9525">
            <a:solidFill>
              <a:srgbClr val="D9DEE8"/>
            </a:solidFill>
            <a:prstDash val="solid"/>
          </a:ln>
        </p:spPr>
      </p:sp>
      <p:sp>
        <p:nvSpPr>
          <p:cNvPr id="7" name="Text 5"/>
          <p:cNvSpPr/>
          <p:nvPr/>
        </p:nvSpPr>
        <p:spPr>
          <a:xfrm>
            <a:off x="6492240" y="1691640"/>
            <a:ext cx="493776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The solution</a:t>
            </a:r>
            <a:endParaRPr lang="en-US" sz="1450" dirty="0"/>
          </a:p>
        </p:txBody>
      </p:sp>
      <p:sp>
        <p:nvSpPr>
          <p:cNvPr id="8" name="Text 6"/>
          <p:cNvSpPr/>
          <p:nvPr/>
        </p:nvSpPr>
        <p:spPr>
          <a:xfrm>
            <a:off x="6492240" y="2121408"/>
            <a:ext cx="4937760" cy="379476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NewsBot 2.0 turns raw article text into structured intelligence:</a:t>
            </a:r>
            <a:endParaRPr lang="en-US" sz="1150" dirty="0"/>
          </a:p>
          <a:p>
            <a:pPr algn="l" indent="0" marL="0">
              <a:lnSpc>
                <a:spcPct val="105000"/>
              </a:lnSpc>
              <a:buNone/>
            </a:pP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category with a confidence score</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sentiment and dominant emotion</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named people, organizations, and places</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a short summary</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topics across a collection, and search by meaning</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answers to plain-language questions</a:t>
            </a:r>
            <a:endParaRPr lang="en-US" sz="1150" dirty="0"/>
          </a:p>
          <a:p>
            <a:pPr algn="l" indent="0" marL="0">
              <a:lnSpc>
                <a:spcPct val="105000"/>
              </a:lnSpc>
              <a:buNone/>
            </a:pP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All of it reachable from a web dashboard.</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From midterm to final</a:t>
            </a:r>
            <a:endParaRPr lang="en-US" sz="3000" dirty="0"/>
          </a:p>
        </p:txBody>
      </p:sp>
      <p:sp>
        <p:nvSpPr>
          <p:cNvPr id="3" name="Shape 1"/>
          <p:cNvSpPr/>
          <p:nvPr/>
        </p:nvSpPr>
        <p:spPr>
          <a:xfrm>
            <a:off x="548640" y="1554480"/>
            <a:ext cx="5486400" cy="4480560"/>
          </a:xfrm>
          <a:prstGeom prst="roundRect">
            <a:avLst>
              <a:gd name="adj" fmla="val 1633"/>
            </a:avLst>
          </a:prstGeom>
          <a:solidFill>
            <a:srgbClr val="F4F6FA"/>
          </a:solidFill>
          <a:ln w="9525">
            <a:solidFill>
              <a:srgbClr val="D9DEE8"/>
            </a:solidFill>
            <a:prstDash val="solid"/>
          </a:ln>
        </p:spPr>
      </p:sp>
      <p:sp>
        <p:nvSpPr>
          <p:cNvPr id="4" name="Text 2"/>
          <p:cNvSpPr/>
          <p:nvPr/>
        </p:nvSpPr>
        <p:spPr>
          <a:xfrm>
            <a:off x="731520" y="1691640"/>
            <a:ext cx="512064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Midterm</a:t>
            </a:r>
            <a:endParaRPr lang="en-US" sz="1450" dirty="0"/>
          </a:p>
        </p:txBody>
      </p:sp>
      <p:sp>
        <p:nvSpPr>
          <p:cNvPr id="5" name="Text 3"/>
          <p:cNvSpPr/>
          <p:nvPr/>
        </p:nvSpPr>
        <p:spPr>
          <a:xfrm>
            <a:off x="731520" y="2121408"/>
            <a:ext cx="5120640" cy="379476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One long Jupyter notebook.</a:t>
            </a:r>
            <a:endParaRPr lang="en-US" sz="1150" dirty="0"/>
          </a:p>
          <a:p>
            <a:pPr algn="l" indent="0" marL="0">
              <a:lnSpc>
                <a:spcPct val="105000"/>
              </a:lnSpc>
              <a:buNone/>
            </a:pP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preprocessing to TF-IDF to classification</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sentiment, NER, LDA topics</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97.5% test accuracy on BBC News</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a Gradio demo</a:t>
            </a:r>
            <a:endParaRPr lang="en-US" sz="1150" dirty="0"/>
          </a:p>
          <a:p>
            <a:pPr algn="l" indent="0" marL="0">
              <a:lnSpc>
                <a:spcPct val="105000"/>
              </a:lnSpc>
              <a:buNone/>
            </a:pP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Worked well, but hard to reuse or extend.</a:t>
            </a:r>
            <a:endParaRPr lang="en-US" sz="1150" dirty="0"/>
          </a:p>
        </p:txBody>
      </p:sp>
      <p:sp>
        <p:nvSpPr>
          <p:cNvPr id="6" name="Shape 4"/>
          <p:cNvSpPr/>
          <p:nvPr/>
        </p:nvSpPr>
        <p:spPr>
          <a:xfrm>
            <a:off x="6309360" y="1554480"/>
            <a:ext cx="5303520" cy="4480560"/>
          </a:xfrm>
          <a:prstGeom prst="roundRect">
            <a:avLst>
              <a:gd name="adj" fmla="val 1633"/>
            </a:avLst>
          </a:prstGeom>
          <a:solidFill>
            <a:srgbClr val="FDECDD"/>
          </a:solidFill>
          <a:ln w="9525">
            <a:solidFill>
              <a:srgbClr val="D9DEE8"/>
            </a:solidFill>
            <a:prstDash val="solid"/>
          </a:ln>
        </p:spPr>
      </p:sp>
      <p:sp>
        <p:nvSpPr>
          <p:cNvPr id="7" name="Text 5"/>
          <p:cNvSpPr/>
          <p:nvPr/>
        </p:nvSpPr>
        <p:spPr>
          <a:xfrm>
            <a:off x="6492240" y="1691640"/>
            <a:ext cx="493776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Final</a:t>
            </a:r>
            <a:endParaRPr lang="en-US" sz="1450" dirty="0"/>
          </a:p>
        </p:txBody>
      </p:sp>
      <p:sp>
        <p:nvSpPr>
          <p:cNvPr id="8" name="Text 6"/>
          <p:cNvSpPr/>
          <p:nvPr/>
        </p:nvSpPr>
        <p:spPr>
          <a:xfrm>
            <a:off x="6492240" y="2121408"/>
            <a:ext cx="4937760" cy="379476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A production-style Python package.</a:t>
            </a:r>
            <a:endParaRPr lang="en-US" sz="1150" dirty="0"/>
          </a:p>
          <a:p>
            <a:pPr algn="l" indent="0" marL="0">
              <a:lnSpc>
                <a:spcPct val="105000"/>
              </a:lnSpc>
              <a:buNone/>
            </a:pP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every capability a small class under src/</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four new modules: content analysis, language, multilingual, conversational</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a Flask web app (bonus)</a:t>
            </a: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  an automated pytest suite</a:t>
            </a:r>
            <a:endParaRPr lang="en-US" sz="1150" dirty="0"/>
          </a:p>
          <a:p>
            <a:pPr algn="l" indent="0" marL="0">
              <a:lnSpc>
                <a:spcPct val="105000"/>
              </a:lnSpc>
              <a:buNone/>
            </a:pPr>
            <a:endParaRPr lang="en-US" sz="1150" dirty="0"/>
          </a:p>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The refactor is what made the new modules possible.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System architecture</a:t>
            </a:r>
            <a:endParaRPr lang="en-US" sz="3000" dirty="0"/>
          </a:p>
        </p:txBody>
      </p:sp>
      <p:sp>
        <p:nvSpPr>
          <p:cNvPr id="3" name="Text 1"/>
          <p:cNvSpPr/>
          <p:nvPr/>
        </p:nvSpPr>
        <p:spPr>
          <a:xfrm>
            <a:off x="566928" y="987552"/>
            <a:ext cx="10972800" cy="365760"/>
          </a:xfrm>
          <a:prstGeom prst="rect">
            <a:avLst/>
          </a:prstGeom>
          <a:noFill/>
          <a:ln/>
        </p:spPr>
        <p:txBody>
          <a:bodyPr wrap="square" lIns="0" tIns="0" rIns="0" bIns="0" rtlCol="0" anchor="ctr"/>
          <a:lstStyle/>
          <a:p>
            <a:pPr algn="l" indent="0" marL="0">
              <a:buNone/>
            </a:pPr>
            <a:r>
              <a:rPr lang="en-US" sz="1500" dirty="0">
                <a:solidFill>
                  <a:srgbClr val="F97316"/>
                </a:solidFill>
                <a:latin typeface="Calibri" pitchFamily="34" charset="0"/>
                <a:ea typeface="Calibri" pitchFamily="34" charset="-122"/>
                <a:cs typeface="Calibri" pitchFamily="34" charset="-120"/>
              </a:rPr>
              <a:t>Parse and vectorize once, then reuse</a:t>
            </a:r>
            <a:endParaRPr lang="en-US" sz="1500" dirty="0"/>
          </a:p>
        </p:txBody>
      </p:sp>
      <p:sp>
        <p:nvSpPr>
          <p:cNvPr id="4" name="Shape 2"/>
          <p:cNvSpPr/>
          <p:nvPr/>
        </p:nvSpPr>
        <p:spPr>
          <a:xfrm>
            <a:off x="4480560" y="1508760"/>
            <a:ext cx="3200400" cy="640080"/>
          </a:xfrm>
          <a:prstGeom prst="roundRect">
            <a:avLst>
              <a:gd name="adj" fmla="val 8571"/>
            </a:avLst>
          </a:prstGeom>
          <a:solidFill>
            <a:srgbClr val="EEF3FB"/>
          </a:solidFill>
          <a:ln w="9525">
            <a:solidFill>
              <a:srgbClr val="C3CCD9"/>
            </a:solidFill>
            <a:prstDash val="solid"/>
          </a:ln>
        </p:spPr>
      </p:sp>
      <p:sp>
        <p:nvSpPr>
          <p:cNvPr id="5" name="Text 3"/>
          <p:cNvSpPr/>
          <p:nvPr/>
        </p:nvSpPr>
        <p:spPr>
          <a:xfrm>
            <a:off x="4572000" y="1508760"/>
            <a:ext cx="3017520" cy="64008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Input
</a:t>
            </a:r>
            <a:pPr algn="ctr" indent="0" marL="0">
              <a:buNone/>
            </a:pPr>
            <a:r>
              <a:rPr lang="en-US" sz="950" dirty="0">
                <a:solidFill>
                  <a:srgbClr val="5F6B7A"/>
                </a:solidFill>
                <a:latin typeface="Calibri" pitchFamily="34" charset="0"/>
                <a:ea typeface="Calibri" pitchFamily="34" charset="-122"/>
                <a:cs typeface="Calibri" pitchFamily="34" charset="-120"/>
              </a:rPr>
              <a:t>raw article text</a:t>
            </a:r>
            <a:endParaRPr lang="en-US" sz="1250" dirty="0"/>
          </a:p>
        </p:txBody>
      </p:sp>
      <p:sp>
        <p:nvSpPr>
          <p:cNvPr id="6" name="Shape 4"/>
          <p:cNvSpPr/>
          <p:nvPr/>
        </p:nvSpPr>
        <p:spPr>
          <a:xfrm>
            <a:off x="4206240" y="2331720"/>
            <a:ext cx="3749040" cy="731520"/>
          </a:xfrm>
          <a:prstGeom prst="roundRect">
            <a:avLst>
              <a:gd name="adj" fmla="val 7500"/>
            </a:avLst>
          </a:prstGeom>
          <a:solidFill>
            <a:srgbClr val="1E2761"/>
          </a:solidFill>
          <a:ln w="9525">
            <a:solidFill>
              <a:srgbClr val="C3CCD9"/>
            </a:solidFill>
            <a:prstDash val="solid"/>
          </a:ln>
        </p:spPr>
      </p:sp>
      <p:sp>
        <p:nvSpPr>
          <p:cNvPr id="7" name="Text 5"/>
          <p:cNvSpPr/>
          <p:nvPr/>
        </p:nvSpPr>
        <p:spPr>
          <a:xfrm>
            <a:off x="4297680" y="2331720"/>
            <a:ext cx="3566160" cy="7315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NewsBot facade
</a:t>
            </a:r>
            <a:pPr algn="ctr" indent="0" marL="0">
              <a:buNone/>
            </a:pPr>
            <a:r>
              <a:rPr lang="en-US" sz="950" dirty="0">
                <a:solidFill>
                  <a:srgbClr val="CADCFC"/>
                </a:solidFill>
                <a:latin typeface="Calibri" pitchFamily="34" charset="0"/>
                <a:ea typeface="Calibri" pitchFamily="34" charset="-122"/>
                <a:cs typeface="Calibri" pitchFamily="34" charset="-120"/>
              </a:rPr>
              <a:t>classify + sentiment + entities</a:t>
            </a:r>
            <a:endParaRPr lang="en-US" sz="1250" dirty="0"/>
          </a:p>
        </p:txBody>
      </p:sp>
      <p:sp>
        <p:nvSpPr>
          <p:cNvPr id="8" name="Shape 6"/>
          <p:cNvSpPr/>
          <p:nvPr/>
        </p:nvSpPr>
        <p:spPr>
          <a:xfrm>
            <a:off x="548640" y="3337560"/>
            <a:ext cx="2651760" cy="914400"/>
          </a:xfrm>
          <a:prstGeom prst="roundRect">
            <a:avLst>
              <a:gd name="adj" fmla="val 6000"/>
            </a:avLst>
          </a:prstGeom>
          <a:solidFill>
            <a:srgbClr val="F4F6FA"/>
          </a:solidFill>
          <a:ln w="9525">
            <a:solidFill>
              <a:srgbClr val="C3CCD9"/>
            </a:solidFill>
            <a:prstDash val="solid"/>
          </a:ln>
        </p:spPr>
      </p:sp>
      <p:sp>
        <p:nvSpPr>
          <p:cNvPr id="9" name="Text 7"/>
          <p:cNvSpPr/>
          <p:nvPr/>
        </p:nvSpPr>
        <p:spPr>
          <a:xfrm>
            <a:off x="640080" y="3337560"/>
            <a:ext cx="2468880" cy="91440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Module A
</a:t>
            </a:r>
            <a:pPr algn="ctr" indent="0" marL="0">
              <a:buNone/>
            </a:pPr>
            <a:r>
              <a:rPr lang="en-US" sz="950" dirty="0">
                <a:solidFill>
                  <a:srgbClr val="5F6B7A"/>
                </a:solidFill>
                <a:latin typeface="Calibri" pitchFamily="34" charset="0"/>
                <a:ea typeface="Calibri" pitchFamily="34" charset="-122"/>
                <a:cs typeface="Calibri" pitchFamily="34" charset="-120"/>
              </a:rPr>
              <a:t>Content analysis: classifier, sentiment, NER, topics</a:t>
            </a:r>
            <a:endParaRPr lang="en-US" sz="1250" dirty="0"/>
          </a:p>
        </p:txBody>
      </p:sp>
      <p:sp>
        <p:nvSpPr>
          <p:cNvPr id="10" name="Shape 8"/>
          <p:cNvSpPr/>
          <p:nvPr/>
        </p:nvSpPr>
        <p:spPr>
          <a:xfrm>
            <a:off x="3383280" y="3337560"/>
            <a:ext cx="2651760" cy="914400"/>
          </a:xfrm>
          <a:prstGeom prst="roundRect">
            <a:avLst>
              <a:gd name="adj" fmla="val 6000"/>
            </a:avLst>
          </a:prstGeom>
          <a:solidFill>
            <a:srgbClr val="F4F6FA"/>
          </a:solidFill>
          <a:ln w="9525">
            <a:solidFill>
              <a:srgbClr val="C3CCD9"/>
            </a:solidFill>
            <a:prstDash val="solid"/>
          </a:ln>
        </p:spPr>
      </p:sp>
      <p:sp>
        <p:nvSpPr>
          <p:cNvPr id="11" name="Text 9"/>
          <p:cNvSpPr/>
          <p:nvPr/>
        </p:nvSpPr>
        <p:spPr>
          <a:xfrm>
            <a:off x="3474720" y="3337560"/>
            <a:ext cx="2468880" cy="91440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Module B
</a:t>
            </a:r>
            <a:pPr algn="ctr" indent="0" marL="0">
              <a:buNone/>
            </a:pPr>
            <a:r>
              <a:rPr lang="en-US" sz="950" dirty="0">
                <a:solidFill>
                  <a:srgbClr val="5F6B7A"/>
                </a:solidFill>
                <a:latin typeface="Calibri" pitchFamily="34" charset="0"/>
                <a:ea typeface="Calibri" pitchFamily="34" charset="-122"/>
                <a:cs typeface="Calibri" pitchFamily="34" charset="-120"/>
              </a:rPr>
              <a:t>Language: summarizer, semantic search, generation</a:t>
            </a:r>
            <a:endParaRPr lang="en-US" sz="1250" dirty="0"/>
          </a:p>
        </p:txBody>
      </p:sp>
      <p:sp>
        <p:nvSpPr>
          <p:cNvPr id="12" name="Shape 10"/>
          <p:cNvSpPr/>
          <p:nvPr/>
        </p:nvSpPr>
        <p:spPr>
          <a:xfrm>
            <a:off x="6217920" y="3337560"/>
            <a:ext cx="2651760" cy="914400"/>
          </a:xfrm>
          <a:prstGeom prst="roundRect">
            <a:avLst>
              <a:gd name="adj" fmla="val 6000"/>
            </a:avLst>
          </a:prstGeom>
          <a:solidFill>
            <a:srgbClr val="F4F6FA"/>
          </a:solidFill>
          <a:ln w="9525">
            <a:solidFill>
              <a:srgbClr val="C3CCD9"/>
            </a:solidFill>
            <a:prstDash val="solid"/>
          </a:ln>
        </p:spPr>
      </p:sp>
      <p:sp>
        <p:nvSpPr>
          <p:cNvPr id="13" name="Text 11"/>
          <p:cNvSpPr/>
          <p:nvPr/>
        </p:nvSpPr>
        <p:spPr>
          <a:xfrm>
            <a:off x="6309360" y="3337560"/>
            <a:ext cx="2468880" cy="91440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Module C
</a:t>
            </a:r>
            <a:pPr algn="ctr" indent="0" marL="0">
              <a:buNone/>
            </a:pPr>
            <a:r>
              <a:rPr lang="en-US" sz="950" dirty="0">
                <a:solidFill>
                  <a:srgbClr val="5F6B7A"/>
                </a:solidFill>
                <a:latin typeface="Calibri" pitchFamily="34" charset="0"/>
                <a:ea typeface="Calibri" pitchFamily="34" charset="-122"/>
                <a:cs typeface="Calibri" pitchFamily="34" charset="-120"/>
              </a:rPr>
              <a:t>Multilingual: detect, translate, cross-lingual</a:t>
            </a:r>
            <a:endParaRPr lang="en-US" sz="1250" dirty="0"/>
          </a:p>
        </p:txBody>
      </p:sp>
      <p:sp>
        <p:nvSpPr>
          <p:cNvPr id="14" name="Shape 12"/>
          <p:cNvSpPr/>
          <p:nvPr/>
        </p:nvSpPr>
        <p:spPr>
          <a:xfrm>
            <a:off x="9052560" y="3337560"/>
            <a:ext cx="2560320" cy="914400"/>
          </a:xfrm>
          <a:prstGeom prst="roundRect">
            <a:avLst>
              <a:gd name="adj" fmla="val 6000"/>
            </a:avLst>
          </a:prstGeom>
          <a:solidFill>
            <a:srgbClr val="F4F6FA"/>
          </a:solidFill>
          <a:ln w="9525">
            <a:solidFill>
              <a:srgbClr val="C3CCD9"/>
            </a:solidFill>
            <a:prstDash val="solid"/>
          </a:ln>
        </p:spPr>
      </p:sp>
      <p:sp>
        <p:nvSpPr>
          <p:cNvPr id="15" name="Text 13"/>
          <p:cNvSpPr/>
          <p:nvPr/>
        </p:nvSpPr>
        <p:spPr>
          <a:xfrm>
            <a:off x="9144000" y="3337560"/>
            <a:ext cx="2377440" cy="91440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Module D
</a:t>
            </a:r>
            <a:pPr algn="ctr" indent="0" marL="0">
              <a:buNone/>
            </a:pPr>
            <a:r>
              <a:rPr lang="en-US" sz="950" dirty="0">
                <a:solidFill>
                  <a:srgbClr val="5F6B7A"/>
                </a:solidFill>
                <a:latin typeface="Calibri" pitchFamily="34" charset="0"/>
                <a:ea typeface="Calibri" pitchFamily="34" charset="-122"/>
                <a:cs typeface="Calibri" pitchFamily="34" charset="-120"/>
              </a:rPr>
              <a:t>Conversational: intent, routing, response</a:t>
            </a:r>
            <a:endParaRPr lang="en-US" sz="1250" dirty="0"/>
          </a:p>
        </p:txBody>
      </p:sp>
      <p:sp>
        <p:nvSpPr>
          <p:cNvPr id="16" name="Shape 14"/>
          <p:cNvSpPr/>
          <p:nvPr/>
        </p:nvSpPr>
        <p:spPr>
          <a:xfrm>
            <a:off x="3931920" y="4526280"/>
            <a:ext cx="4297680" cy="777240"/>
          </a:xfrm>
          <a:prstGeom prst="roundRect">
            <a:avLst>
              <a:gd name="adj" fmla="val 7059"/>
            </a:avLst>
          </a:prstGeom>
          <a:solidFill>
            <a:srgbClr val="FDECDD"/>
          </a:solidFill>
          <a:ln w="9525">
            <a:solidFill>
              <a:srgbClr val="C3CCD9"/>
            </a:solidFill>
            <a:prstDash val="solid"/>
          </a:ln>
        </p:spPr>
      </p:sp>
      <p:sp>
        <p:nvSpPr>
          <p:cNvPr id="17" name="Text 15"/>
          <p:cNvSpPr/>
          <p:nvPr/>
        </p:nvSpPr>
        <p:spPr>
          <a:xfrm>
            <a:off x="4023360" y="4526280"/>
            <a:ext cx="4114800" cy="77724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Flask web app
</a:t>
            </a:r>
            <a:pPr algn="ctr" indent="0" marL="0">
              <a:buNone/>
            </a:pPr>
            <a:r>
              <a:rPr lang="en-US" sz="950" dirty="0">
                <a:solidFill>
                  <a:srgbClr val="5F6B7A"/>
                </a:solidFill>
                <a:latin typeface="Calibri" pitchFamily="34" charset="0"/>
                <a:ea typeface="Calibri" pitchFamily="34" charset="-122"/>
                <a:cs typeface="Calibri" pitchFamily="34" charset="-120"/>
              </a:rPr>
              <a:t>/  /analyze  /query  /similar  /topics</a:t>
            </a:r>
            <a:endParaRPr lang="en-US" sz="1250" dirty="0"/>
          </a:p>
        </p:txBody>
      </p:sp>
      <p:sp>
        <p:nvSpPr>
          <p:cNvPr id="18" name="Text 16"/>
          <p:cNvSpPr/>
          <p:nvPr/>
        </p:nvSpPr>
        <p:spPr>
          <a:xfrm>
            <a:off x="548640" y="5532120"/>
            <a:ext cx="10972800" cy="365760"/>
          </a:xfrm>
          <a:prstGeom prst="rect">
            <a:avLst/>
          </a:prstGeom>
          <a:noFill/>
          <a:ln/>
        </p:spPr>
        <p:txBody>
          <a:bodyPr wrap="square" lIns="0" tIns="0" rIns="0" bIns="0" rtlCol="0" anchor="ctr"/>
          <a:lstStyle/>
          <a:p>
            <a:pPr indent="0" marL="0">
              <a:buNone/>
            </a:pPr>
            <a:r>
              <a:rPr lang="en-US" sz="1100" i="1" dirty="0">
                <a:solidFill>
                  <a:srgbClr val="5F6B7A"/>
                </a:solidFill>
                <a:latin typeface="Calibri" pitchFamily="34" charset="0"/>
                <a:ea typeface="Calibri" pitchFamily="34" charset="-122"/>
                <a:cs typeface="Calibri" pitchFamily="34" charset="-120"/>
              </a:rPr>
              <a:t>The classifier owns the TF-IDF vectorizer; search and topic modeling keep their own, tuned for recall.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Module A — Advanced content analysis</a:t>
            </a:r>
            <a:endParaRPr lang="en-US" sz="3000" dirty="0"/>
          </a:p>
        </p:txBody>
      </p:sp>
      <p:sp>
        <p:nvSpPr>
          <p:cNvPr id="3" name="Shape 1"/>
          <p:cNvSpPr/>
          <p:nvPr/>
        </p:nvSpPr>
        <p:spPr>
          <a:xfrm>
            <a:off x="548640" y="1554480"/>
            <a:ext cx="5394960" cy="2148840"/>
          </a:xfrm>
          <a:prstGeom prst="roundRect">
            <a:avLst>
              <a:gd name="adj" fmla="val 3404"/>
            </a:avLst>
          </a:prstGeom>
          <a:solidFill>
            <a:srgbClr val="F4F6FA"/>
          </a:solidFill>
          <a:ln w="9525">
            <a:solidFill>
              <a:srgbClr val="D9DEE8"/>
            </a:solidFill>
            <a:prstDash val="solid"/>
          </a:ln>
        </p:spPr>
      </p:sp>
      <p:sp>
        <p:nvSpPr>
          <p:cNvPr id="4" name="Text 2"/>
          <p:cNvSpPr/>
          <p:nvPr/>
        </p:nvSpPr>
        <p:spPr>
          <a:xfrm>
            <a:off x="731520" y="169164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Classification with an uncertainty guard</a:t>
            </a:r>
            <a:endParaRPr lang="en-US" sz="1450" dirty="0"/>
          </a:p>
        </p:txBody>
      </p:sp>
      <p:sp>
        <p:nvSpPr>
          <p:cNvPr id="5" name="Text 3"/>
          <p:cNvSpPr/>
          <p:nvPr/>
        </p:nvSpPr>
        <p:spPr>
          <a:xfrm>
            <a:off x="731520" y="2121408"/>
            <a:ext cx="5029200" cy="14630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Category, confidence, runner-up, and how many words were recognized. Returns 'uncertain' on empty or out-of-scope text instead of guessing. Fixes the midterm bug where short input was labeled sport.</a:t>
            </a:r>
            <a:endParaRPr lang="en-US" sz="1150" dirty="0"/>
          </a:p>
        </p:txBody>
      </p:sp>
      <p:sp>
        <p:nvSpPr>
          <p:cNvPr id="6" name="Shape 4"/>
          <p:cNvSpPr/>
          <p:nvPr/>
        </p:nvSpPr>
        <p:spPr>
          <a:xfrm>
            <a:off x="6217920" y="1554480"/>
            <a:ext cx="5394960" cy="2148840"/>
          </a:xfrm>
          <a:prstGeom prst="roundRect">
            <a:avLst>
              <a:gd name="adj" fmla="val 3404"/>
            </a:avLst>
          </a:prstGeom>
          <a:solidFill>
            <a:srgbClr val="EEF3FB"/>
          </a:solidFill>
          <a:ln w="9525">
            <a:solidFill>
              <a:srgbClr val="D9DEE8"/>
            </a:solidFill>
            <a:prstDash val="solid"/>
          </a:ln>
        </p:spPr>
      </p:sp>
      <p:sp>
        <p:nvSpPr>
          <p:cNvPr id="7" name="Text 5"/>
          <p:cNvSpPr/>
          <p:nvPr/>
        </p:nvSpPr>
        <p:spPr>
          <a:xfrm>
            <a:off x="6400800" y="169164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Sentiment and emotion</a:t>
            </a:r>
            <a:endParaRPr lang="en-US" sz="1450" dirty="0"/>
          </a:p>
        </p:txBody>
      </p:sp>
      <p:sp>
        <p:nvSpPr>
          <p:cNvPr id="8" name="Text 6"/>
          <p:cNvSpPr/>
          <p:nvPr/>
        </p:nvSpPr>
        <p:spPr>
          <a:xfrm>
            <a:off x="6400800" y="2121408"/>
            <a:ext cx="5029200" cy="14630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VADER compound plus TextBlob polarity and subjectivity, and a transparent 8-emotion lexicon (joy, anger, fear, sadness, and more).</a:t>
            </a:r>
            <a:endParaRPr lang="en-US" sz="1150" dirty="0"/>
          </a:p>
        </p:txBody>
      </p:sp>
      <p:sp>
        <p:nvSpPr>
          <p:cNvPr id="9" name="Shape 7"/>
          <p:cNvSpPr/>
          <p:nvPr/>
        </p:nvSpPr>
        <p:spPr>
          <a:xfrm>
            <a:off x="548640" y="3840480"/>
            <a:ext cx="5394960" cy="2148840"/>
          </a:xfrm>
          <a:prstGeom prst="roundRect">
            <a:avLst>
              <a:gd name="adj" fmla="val 3404"/>
            </a:avLst>
          </a:prstGeom>
          <a:solidFill>
            <a:srgbClr val="EEF3FB"/>
          </a:solidFill>
          <a:ln w="9525">
            <a:solidFill>
              <a:srgbClr val="D9DEE8"/>
            </a:solidFill>
            <a:prstDash val="solid"/>
          </a:ln>
        </p:spPr>
      </p:sp>
      <p:sp>
        <p:nvSpPr>
          <p:cNvPr id="10" name="Text 8"/>
          <p:cNvSpPr/>
          <p:nvPr/>
        </p:nvSpPr>
        <p:spPr>
          <a:xfrm>
            <a:off x="731520" y="397764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Named entity recognition</a:t>
            </a:r>
            <a:endParaRPr lang="en-US" sz="1450" dirty="0"/>
          </a:p>
        </p:txBody>
      </p:sp>
      <p:sp>
        <p:nvSpPr>
          <p:cNvPr id="11" name="Text 9"/>
          <p:cNvSpPr/>
          <p:nvPr/>
        </p:nvSpPr>
        <p:spPr>
          <a:xfrm>
            <a:off x="731520" y="4407408"/>
            <a:ext cx="5029200" cy="14630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spaCy entities with an optional domain rule layer that corrects names like Nvidia, OpenAI, and Manchester United.</a:t>
            </a:r>
            <a:endParaRPr lang="en-US" sz="1150" dirty="0"/>
          </a:p>
        </p:txBody>
      </p:sp>
      <p:sp>
        <p:nvSpPr>
          <p:cNvPr id="12" name="Shape 10"/>
          <p:cNvSpPr/>
          <p:nvPr/>
        </p:nvSpPr>
        <p:spPr>
          <a:xfrm>
            <a:off x="6217920" y="3840480"/>
            <a:ext cx="5394960" cy="2148840"/>
          </a:xfrm>
          <a:prstGeom prst="roundRect">
            <a:avLst>
              <a:gd name="adj" fmla="val 3404"/>
            </a:avLst>
          </a:prstGeom>
          <a:solidFill>
            <a:srgbClr val="F4F6FA"/>
          </a:solidFill>
          <a:ln w="9525">
            <a:solidFill>
              <a:srgbClr val="D9DEE8"/>
            </a:solidFill>
            <a:prstDash val="solid"/>
          </a:ln>
        </p:spPr>
      </p:sp>
      <p:sp>
        <p:nvSpPr>
          <p:cNvPr id="13" name="Text 11"/>
          <p:cNvSpPr/>
          <p:nvPr/>
        </p:nvSpPr>
        <p:spPr>
          <a:xfrm>
            <a:off x="6400800" y="397764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Topic modeling: LDA and NMF</a:t>
            </a:r>
            <a:endParaRPr lang="en-US" sz="1450" dirty="0"/>
          </a:p>
        </p:txBody>
      </p:sp>
      <p:sp>
        <p:nvSpPr>
          <p:cNvPr id="14" name="Text 12"/>
          <p:cNvSpPr/>
          <p:nvPr/>
        </p:nvSpPr>
        <p:spPr>
          <a:xfrm>
            <a:off x="6400800" y="4407408"/>
            <a:ext cx="5029200" cy="14630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Unsupervised topics over the corpus, with per-topic top words and a visualization. The topics rediscover the five categories with no labels.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Module B — Language understanding and generation</a:t>
            </a:r>
            <a:endParaRPr lang="en-US" sz="3000" dirty="0"/>
          </a:p>
        </p:txBody>
      </p:sp>
      <p:sp>
        <p:nvSpPr>
          <p:cNvPr id="3" name="Shape 1"/>
          <p:cNvSpPr/>
          <p:nvPr/>
        </p:nvSpPr>
        <p:spPr>
          <a:xfrm>
            <a:off x="548640" y="1554480"/>
            <a:ext cx="5394960" cy="2148840"/>
          </a:xfrm>
          <a:prstGeom prst="roundRect">
            <a:avLst>
              <a:gd name="adj" fmla="val 3404"/>
            </a:avLst>
          </a:prstGeom>
          <a:solidFill>
            <a:srgbClr val="F4F6FA"/>
          </a:solidFill>
          <a:ln w="9525">
            <a:solidFill>
              <a:srgbClr val="D9DEE8"/>
            </a:solidFill>
            <a:prstDash val="solid"/>
          </a:ln>
        </p:spPr>
      </p:sp>
      <p:sp>
        <p:nvSpPr>
          <p:cNvPr id="4" name="Text 2"/>
          <p:cNvSpPr/>
          <p:nvPr/>
        </p:nvSpPr>
        <p:spPr>
          <a:xfrm>
            <a:off x="731520" y="169164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Summarization</a:t>
            </a:r>
            <a:endParaRPr lang="en-US" sz="1450" dirty="0"/>
          </a:p>
        </p:txBody>
      </p:sp>
      <p:sp>
        <p:nvSpPr>
          <p:cNvPr id="5" name="Text 3"/>
          <p:cNvSpPr/>
          <p:nvPr/>
        </p:nvSpPr>
        <p:spPr>
          <a:xfrm>
            <a:off x="731520" y="2121408"/>
            <a:ext cx="5029200" cy="14630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Extractive by default: sentences ranked by TF-IDF salience, top ones returned in order. An abstractive DistilBART path lazy-loads only on request.</a:t>
            </a:r>
            <a:endParaRPr lang="en-US" sz="1150" dirty="0"/>
          </a:p>
        </p:txBody>
      </p:sp>
      <p:sp>
        <p:nvSpPr>
          <p:cNvPr id="6" name="Shape 4"/>
          <p:cNvSpPr/>
          <p:nvPr/>
        </p:nvSpPr>
        <p:spPr>
          <a:xfrm>
            <a:off x="6217920" y="1554480"/>
            <a:ext cx="5394960" cy="2148840"/>
          </a:xfrm>
          <a:prstGeom prst="roundRect">
            <a:avLst>
              <a:gd name="adj" fmla="val 3404"/>
            </a:avLst>
          </a:prstGeom>
          <a:solidFill>
            <a:srgbClr val="EEF3FB"/>
          </a:solidFill>
          <a:ln w="9525">
            <a:solidFill>
              <a:srgbClr val="D9DEE8"/>
            </a:solidFill>
            <a:prstDash val="solid"/>
          </a:ln>
        </p:spPr>
      </p:sp>
      <p:sp>
        <p:nvSpPr>
          <p:cNvPr id="7" name="Text 5"/>
          <p:cNvSpPr/>
          <p:nvPr/>
        </p:nvSpPr>
        <p:spPr>
          <a:xfrm>
            <a:off x="6400800" y="169164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Semantic search</a:t>
            </a:r>
            <a:endParaRPr lang="en-US" sz="1450" dirty="0"/>
          </a:p>
        </p:txBody>
      </p:sp>
      <p:sp>
        <p:nvSpPr>
          <p:cNvPr id="8" name="Text 6"/>
          <p:cNvSpPr/>
          <p:nvPr/>
        </p:nvSpPr>
        <p:spPr>
          <a:xfrm>
            <a:off x="6400800" y="2121408"/>
            <a:ext cx="5029200" cy="14630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Ranks the corpus by cosine similarity to a query, so you search by meaning, not keywords. Optional dense SBERT backend.</a:t>
            </a:r>
            <a:endParaRPr lang="en-US" sz="1150" dirty="0"/>
          </a:p>
        </p:txBody>
      </p:sp>
      <p:sp>
        <p:nvSpPr>
          <p:cNvPr id="9" name="Shape 7"/>
          <p:cNvSpPr/>
          <p:nvPr/>
        </p:nvSpPr>
        <p:spPr>
          <a:xfrm>
            <a:off x="548640" y="3840480"/>
            <a:ext cx="5394960" cy="2148840"/>
          </a:xfrm>
          <a:prstGeom prst="roundRect">
            <a:avLst>
              <a:gd name="adj" fmla="val 3404"/>
            </a:avLst>
          </a:prstGeom>
          <a:solidFill>
            <a:srgbClr val="EEF3FB"/>
          </a:solidFill>
          <a:ln w="9525">
            <a:solidFill>
              <a:srgbClr val="D9DEE8"/>
            </a:solidFill>
            <a:prstDash val="solid"/>
          </a:ln>
        </p:spPr>
      </p:sp>
      <p:sp>
        <p:nvSpPr>
          <p:cNvPr id="10" name="Text 8"/>
          <p:cNvSpPr/>
          <p:nvPr/>
        </p:nvSpPr>
        <p:spPr>
          <a:xfrm>
            <a:off x="731520" y="397764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Content enhancement</a:t>
            </a:r>
            <a:endParaRPr lang="en-US" sz="1450" dirty="0"/>
          </a:p>
        </p:txBody>
      </p:sp>
      <p:sp>
        <p:nvSpPr>
          <p:cNvPr id="11" name="Text 9"/>
          <p:cNvSpPr/>
          <p:nvPr/>
        </p:nvSpPr>
        <p:spPr>
          <a:xfrm>
            <a:off x="731520" y="4407408"/>
            <a:ext cx="5029200" cy="14630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Turns an analysis result into a readable narrative brief for a non-technical reader.</a:t>
            </a:r>
            <a:endParaRPr lang="en-US" sz="1150" dirty="0"/>
          </a:p>
        </p:txBody>
      </p:sp>
      <p:sp>
        <p:nvSpPr>
          <p:cNvPr id="12" name="Shape 10"/>
          <p:cNvSpPr/>
          <p:nvPr/>
        </p:nvSpPr>
        <p:spPr>
          <a:xfrm>
            <a:off x="6217920" y="3840480"/>
            <a:ext cx="5394960" cy="2148840"/>
          </a:xfrm>
          <a:prstGeom prst="roundRect">
            <a:avLst>
              <a:gd name="adj" fmla="val 3404"/>
            </a:avLst>
          </a:prstGeom>
          <a:solidFill>
            <a:srgbClr val="F4F6FA"/>
          </a:solidFill>
          <a:ln w="9525">
            <a:solidFill>
              <a:srgbClr val="D9DEE8"/>
            </a:solidFill>
            <a:prstDash val="solid"/>
          </a:ln>
        </p:spPr>
      </p:sp>
      <p:sp>
        <p:nvSpPr>
          <p:cNvPr id="13" name="Text 11"/>
          <p:cNvSpPr/>
          <p:nvPr/>
        </p:nvSpPr>
        <p:spPr>
          <a:xfrm>
            <a:off x="6400800" y="397764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Query expansion</a:t>
            </a:r>
            <a:endParaRPr lang="en-US" sz="1450" dirty="0"/>
          </a:p>
        </p:txBody>
      </p:sp>
      <p:sp>
        <p:nvSpPr>
          <p:cNvPr id="14" name="Text 12"/>
          <p:cNvSpPr/>
          <p:nvPr/>
        </p:nvSpPr>
        <p:spPr>
          <a:xfrm>
            <a:off x="6400800" y="4407408"/>
            <a:ext cx="5029200" cy="14630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Adds WordNet synonyms to widen a search and catch related coverage.</a:t>
            </a:r>
            <a:endParaRPr lang="en-US" sz="1150" dirty="0"/>
          </a:p>
        </p:txBody>
      </p:sp>
      <p:sp>
        <p:nvSpPr>
          <p:cNvPr id="15" name="Text 13"/>
          <p:cNvSpPr/>
          <p:nvPr/>
        </p:nvSpPr>
        <p:spPr>
          <a:xfrm>
            <a:off x="548640" y="6172200"/>
            <a:ext cx="10972800" cy="365760"/>
          </a:xfrm>
          <a:prstGeom prst="rect">
            <a:avLst/>
          </a:prstGeom>
          <a:noFill/>
          <a:ln/>
        </p:spPr>
        <p:txBody>
          <a:bodyPr wrap="square" lIns="0" tIns="0" rIns="0" bIns="0" rtlCol="0" anchor="ctr"/>
          <a:lstStyle/>
          <a:p>
            <a:pPr indent="0" marL="0">
              <a:buNone/>
            </a:pPr>
            <a:r>
              <a:rPr lang="en-US" sz="1100" i="1" dirty="0">
                <a:solidFill>
                  <a:srgbClr val="5F6B7A"/>
                </a:solidFill>
                <a:latin typeface="Calibri" pitchFamily="34" charset="0"/>
                <a:ea typeface="Calibri" pitchFamily="34" charset="-122"/>
                <a:cs typeface="Calibri" pitchFamily="34" charset="-120"/>
              </a:rPr>
              <a:t>Theme: a light default that runs anywhere, with a heavier transformer upgrade one flag away.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Module C — Multilingual intelligence</a:t>
            </a:r>
            <a:endParaRPr lang="en-US" sz="3000" dirty="0"/>
          </a:p>
        </p:txBody>
      </p:sp>
      <p:sp>
        <p:nvSpPr>
          <p:cNvPr id="3" name="Shape 1"/>
          <p:cNvSpPr/>
          <p:nvPr/>
        </p:nvSpPr>
        <p:spPr>
          <a:xfrm>
            <a:off x="640080" y="2194560"/>
            <a:ext cx="2926080" cy="1645920"/>
          </a:xfrm>
          <a:prstGeom prst="roundRect">
            <a:avLst>
              <a:gd name="adj" fmla="val 4444"/>
            </a:avLst>
          </a:prstGeom>
          <a:solidFill>
            <a:srgbClr val="F4F6FA"/>
          </a:solidFill>
          <a:ln w="9525">
            <a:solidFill>
              <a:srgbClr val="D9DEE8"/>
            </a:solidFill>
            <a:prstDash val="solid"/>
          </a:ln>
        </p:spPr>
      </p:sp>
      <p:sp>
        <p:nvSpPr>
          <p:cNvPr id="4" name="Text 2"/>
          <p:cNvSpPr/>
          <p:nvPr/>
        </p:nvSpPr>
        <p:spPr>
          <a:xfrm>
            <a:off x="777240" y="2194560"/>
            <a:ext cx="2651760" cy="1645920"/>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1. Detect
</a:t>
            </a:r>
            <a:pPr algn="ctr" indent="0" marL="0">
              <a:buNone/>
            </a:pPr>
            <a:r>
              <a:rPr lang="en-US" sz="1100" dirty="0">
                <a:solidFill>
                  <a:srgbClr val="22262B"/>
                </a:solidFill>
                <a:latin typeface="Calibri" pitchFamily="34" charset="0"/>
                <a:ea typeface="Calibri" pitchFamily="34" charset="-122"/>
                <a:cs typeface="Calibri" pitchFamily="34" charset="-120"/>
              </a:rPr>
              <a:t>identify the language with langdetect</a:t>
            </a:r>
            <a:endParaRPr lang="en-US" sz="1500" dirty="0"/>
          </a:p>
        </p:txBody>
      </p:sp>
      <p:sp>
        <p:nvSpPr>
          <p:cNvPr id="5" name="Shape 3"/>
          <p:cNvSpPr/>
          <p:nvPr/>
        </p:nvSpPr>
        <p:spPr>
          <a:xfrm>
            <a:off x="4480560" y="2194560"/>
            <a:ext cx="2926080" cy="1645920"/>
          </a:xfrm>
          <a:prstGeom prst="roundRect">
            <a:avLst>
              <a:gd name="adj" fmla="val 4444"/>
            </a:avLst>
          </a:prstGeom>
          <a:solidFill>
            <a:srgbClr val="F4F6FA"/>
          </a:solidFill>
          <a:ln w="9525">
            <a:solidFill>
              <a:srgbClr val="D9DEE8"/>
            </a:solidFill>
            <a:prstDash val="solid"/>
          </a:ln>
        </p:spPr>
      </p:sp>
      <p:sp>
        <p:nvSpPr>
          <p:cNvPr id="6" name="Text 4"/>
          <p:cNvSpPr/>
          <p:nvPr/>
        </p:nvSpPr>
        <p:spPr>
          <a:xfrm>
            <a:off x="4617720" y="2194560"/>
            <a:ext cx="2651760" cy="1645920"/>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2. Translate
</a:t>
            </a:r>
            <a:pPr algn="ctr" indent="0" marL="0">
              <a:buNone/>
            </a:pPr>
            <a:r>
              <a:rPr lang="en-US" sz="1100" dirty="0">
                <a:solidFill>
                  <a:srgbClr val="22262B"/>
                </a:solidFill>
                <a:latin typeface="Calibri" pitchFamily="34" charset="0"/>
                <a:ea typeface="Calibri" pitchFamily="34" charset="-122"/>
                <a:cs typeface="Calibri" pitchFamily="34" charset="-120"/>
              </a:rPr>
              <a:t>to English with deep-translator</a:t>
            </a:r>
            <a:endParaRPr lang="en-US" sz="1500" dirty="0"/>
          </a:p>
        </p:txBody>
      </p:sp>
      <p:sp>
        <p:nvSpPr>
          <p:cNvPr id="7" name="Shape 5"/>
          <p:cNvSpPr/>
          <p:nvPr/>
        </p:nvSpPr>
        <p:spPr>
          <a:xfrm>
            <a:off x="8321040" y="2194560"/>
            <a:ext cx="2926080" cy="1645920"/>
          </a:xfrm>
          <a:prstGeom prst="roundRect">
            <a:avLst>
              <a:gd name="adj" fmla="val 4444"/>
            </a:avLst>
          </a:prstGeom>
          <a:solidFill>
            <a:srgbClr val="F4F6FA"/>
          </a:solidFill>
          <a:ln w="9525">
            <a:solidFill>
              <a:srgbClr val="D9DEE8"/>
            </a:solidFill>
            <a:prstDash val="solid"/>
          </a:ln>
        </p:spPr>
      </p:sp>
      <p:sp>
        <p:nvSpPr>
          <p:cNvPr id="8" name="Text 6"/>
          <p:cNvSpPr/>
          <p:nvPr/>
        </p:nvSpPr>
        <p:spPr>
          <a:xfrm>
            <a:off x="8458200" y="2194560"/>
            <a:ext cx="2651760" cy="1645920"/>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3. Analyze
</a:t>
            </a:r>
            <a:pPr algn="ctr" indent="0" marL="0">
              <a:buNone/>
            </a:pPr>
            <a:r>
              <a:rPr lang="en-US" sz="1100" dirty="0">
                <a:solidFill>
                  <a:srgbClr val="22262B"/>
                </a:solidFill>
                <a:latin typeface="Calibri" pitchFamily="34" charset="0"/>
                <a:ea typeface="Calibri" pitchFamily="34" charset="-122"/>
                <a:cs typeface="Calibri" pitchFamily="34" charset="-120"/>
              </a:rPr>
              <a:t>run the trusted English pipeline</a:t>
            </a:r>
            <a:endParaRPr lang="en-US" sz="1500" dirty="0"/>
          </a:p>
        </p:txBody>
      </p:sp>
      <p:sp>
        <p:nvSpPr>
          <p:cNvPr id="9" name="Text 7"/>
          <p:cNvSpPr/>
          <p:nvPr/>
        </p:nvSpPr>
        <p:spPr>
          <a:xfrm>
            <a:off x="3566160" y="2514600"/>
            <a:ext cx="914400" cy="914400"/>
          </a:xfrm>
          <a:prstGeom prst="rect">
            <a:avLst/>
          </a:prstGeom>
          <a:noFill/>
          <a:ln/>
        </p:spPr>
        <p:txBody>
          <a:bodyPr wrap="square" lIns="0" tIns="0" rIns="0" bIns="0" rtlCol="0" anchor="ctr"/>
          <a:lstStyle/>
          <a:p>
            <a:pPr algn="ctr" indent="0" marL="0">
              <a:buNone/>
            </a:pPr>
            <a:r>
              <a:rPr lang="en-US" sz="3400" b="1" dirty="0">
                <a:solidFill>
                  <a:srgbClr val="F97316"/>
                </a:solidFill>
                <a:latin typeface="Calibri" pitchFamily="34" charset="0"/>
                <a:ea typeface="Calibri" pitchFamily="34" charset="-122"/>
                <a:cs typeface="Calibri" pitchFamily="34" charset="-120"/>
              </a:rPr>
              <a:t>→</a:t>
            </a:r>
            <a:endParaRPr lang="en-US" sz="3400" dirty="0"/>
          </a:p>
        </p:txBody>
      </p:sp>
      <p:sp>
        <p:nvSpPr>
          <p:cNvPr id="10" name="Text 8"/>
          <p:cNvSpPr/>
          <p:nvPr/>
        </p:nvSpPr>
        <p:spPr>
          <a:xfrm>
            <a:off x="7406640" y="2514600"/>
            <a:ext cx="914400" cy="914400"/>
          </a:xfrm>
          <a:prstGeom prst="rect">
            <a:avLst/>
          </a:prstGeom>
          <a:noFill/>
          <a:ln/>
        </p:spPr>
        <p:txBody>
          <a:bodyPr wrap="square" lIns="0" tIns="0" rIns="0" bIns="0" rtlCol="0" anchor="ctr"/>
          <a:lstStyle/>
          <a:p>
            <a:pPr algn="ctr" indent="0" marL="0">
              <a:buNone/>
            </a:pPr>
            <a:r>
              <a:rPr lang="en-US" sz="3400" b="1" dirty="0">
                <a:solidFill>
                  <a:srgbClr val="F97316"/>
                </a:solidFill>
                <a:latin typeface="Calibri" pitchFamily="34" charset="0"/>
                <a:ea typeface="Calibri" pitchFamily="34" charset="-122"/>
                <a:cs typeface="Calibri" pitchFamily="34" charset="-120"/>
              </a:rPr>
              <a:t>→</a:t>
            </a:r>
            <a:endParaRPr lang="en-US" sz="3400" dirty="0"/>
          </a:p>
        </p:txBody>
      </p:sp>
      <p:sp>
        <p:nvSpPr>
          <p:cNvPr id="11" name="Text 9"/>
          <p:cNvSpPr/>
          <p:nvPr/>
        </p:nvSpPr>
        <p:spPr>
          <a:xfrm>
            <a:off x="640080" y="4297680"/>
            <a:ext cx="10881360" cy="914400"/>
          </a:xfrm>
          <a:prstGeom prst="rect">
            <a:avLst/>
          </a:prstGeom>
          <a:noFill/>
          <a:ln/>
        </p:spPr>
        <p:txBody>
          <a:bodyPr wrap="square" lIns="0" tIns="0" rIns="0" bIns="0" rtlCol="0" anchor="ctr"/>
          <a:lstStyle/>
          <a:p>
            <a:pPr indent="0" marL="0">
              <a:buNone/>
            </a:pPr>
            <a:r>
              <a:rPr lang="en-US" sz="1300" dirty="0">
                <a:solidFill>
                  <a:srgbClr val="22262B"/>
                </a:solidFill>
                <a:latin typeface="Calibri" pitchFamily="34" charset="0"/>
                <a:ea typeface="Calibri" pitchFamily="34" charset="-122"/>
                <a:cs typeface="Calibri" pitchFamily="34" charset="-120"/>
              </a:rPr>
              <a:t>A Spanish or French article gets the same classification, sentiment, and entities as an English one. Translating into English is the honest choice with these tools, rather than pretending English-trained models read every language.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Module D — Conversational interface</a:t>
            </a:r>
            <a:endParaRPr lang="en-US" sz="3000" dirty="0"/>
          </a:p>
        </p:txBody>
      </p:sp>
      <p:sp>
        <p:nvSpPr>
          <p:cNvPr id="3" name="Shape 1"/>
          <p:cNvSpPr/>
          <p:nvPr/>
        </p:nvSpPr>
        <p:spPr>
          <a:xfrm>
            <a:off x="548640" y="2194560"/>
            <a:ext cx="2468880" cy="1554480"/>
          </a:xfrm>
          <a:prstGeom prst="roundRect">
            <a:avLst>
              <a:gd name="adj" fmla="val 4706"/>
            </a:avLst>
          </a:prstGeom>
          <a:solidFill>
            <a:srgbClr val="F4F6FA"/>
          </a:solidFill>
          <a:ln w="9525">
            <a:solidFill>
              <a:srgbClr val="D9DEE8"/>
            </a:solidFill>
            <a:prstDash val="solid"/>
          </a:ln>
        </p:spPr>
      </p:sp>
      <p:sp>
        <p:nvSpPr>
          <p:cNvPr id="4" name="Text 2"/>
          <p:cNvSpPr/>
          <p:nvPr/>
        </p:nvSpPr>
        <p:spPr>
          <a:xfrm>
            <a:off x="658368" y="2194560"/>
            <a:ext cx="2249424" cy="155448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"What is the sentiment?"
</a:t>
            </a:r>
            <a:pPr algn="ctr" indent="0" marL="0">
              <a:buNone/>
            </a:pPr>
            <a:r>
              <a:rPr lang="en-US" sz="1050" dirty="0">
                <a:solidFill>
                  <a:srgbClr val="22262B"/>
                </a:solidFill>
                <a:latin typeface="Calibri" pitchFamily="34" charset="0"/>
                <a:ea typeface="Calibri" pitchFamily="34" charset="-122"/>
                <a:cs typeface="Calibri" pitchFamily="34" charset="-120"/>
              </a:rPr>
              <a:t>a plain question</a:t>
            </a:r>
            <a:endParaRPr lang="en-US" sz="1300" dirty="0"/>
          </a:p>
        </p:txBody>
      </p:sp>
      <p:sp>
        <p:nvSpPr>
          <p:cNvPr id="5" name="Shape 3"/>
          <p:cNvSpPr/>
          <p:nvPr/>
        </p:nvSpPr>
        <p:spPr>
          <a:xfrm>
            <a:off x="3429000" y="2194560"/>
            <a:ext cx="2468880" cy="1554480"/>
          </a:xfrm>
          <a:prstGeom prst="roundRect">
            <a:avLst>
              <a:gd name="adj" fmla="val 4706"/>
            </a:avLst>
          </a:prstGeom>
          <a:solidFill>
            <a:srgbClr val="EEF3FB"/>
          </a:solidFill>
          <a:ln w="9525">
            <a:solidFill>
              <a:srgbClr val="D9DEE8"/>
            </a:solidFill>
            <a:prstDash val="solid"/>
          </a:ln>
        </p:spPr>
      </p:sp>
      <p:sp>
        <p:nvSpPr>
          <p:cNvPr id="6" name="Text 4"/>
          <p:cNvSpPr/>
          <p:nvPr/>
        </p:nvSpPr>
        <p:spPr>
          <a:xfrm>
            <a:off x="3538728" y="2194560"/>
            <a:ext cx="2249424" cy="155448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Intent classifier
</a:t>
            </a:r>
            <a:pPr algn="ctr" indent="0" marL="0">
              <a:buNone/>
            </a:pPr>
            <a:r>
              <a:rPr lang="en-US" sz="1050" dirty="0">
                <a:solidFill>
                  <a:srgbClr val="22262B"/>
                </a:solidFill>
                <a:latin typeface="Calibri" pitchFamily="34" charset="0"/>
                <a:ea typeface="Calibri" pitchFamily="34" charset="-122"/>
                <a:cs typeface="Calibri" pitchFamily="34" charset="-120"/>
              </a:rPr>
              <a:t>6 intents detected</a:t>
            </a:r>
            <a:endParaRPr lang="en-US" sz="1300" dirty="0"/>
          </a:p>
        </p:txBody>
      </p:sp>
      <p:sp>
        <p:nvSpPr>
          <p:cNvPr id="7" name="Shape 5"/>
          <p:cNvSpPr/>
          <p:nvPr/>
        </p:nvSpPr>
        <p:spPr>
          <a:xfrm>
            <a:off x="6309360" y="2194560"/>
            <a:ext cx="2468880" cy="1554480"/>
          </a:xfrm>
          <a:prstGeom prst="roundRect">
            <a:avLst>
              <a:gd name="adj" fmla="val 4706"/>
            </a:avLst>
          </a:prstGeom>
          <a:solidFill>
            <a:srgbClr val="1E2761"/>
          </a:solidFill>
          <a:ln w="9525">
            <a:solidFill>
              <a:srgbClr val="D9DEE8"/>
            </a:solidFill>
            <a:prstDash val="solid"/>
          </a:ln>
        </p:spPr>
      </p:sp>
      <p:sp>
        <p:nvSpPr>
          <p:cNvPr id="8" name="Text 6"/>
          <p:cNvSpPr/>
          <p:nvPr/>
        </p:nvSpPr>
        <p:spPr>
          <a:xfrm>
            <a:off x="6419088" y="2194560"/>
            <a:ext cx="2249424" cy="1554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Query processor
</a:t>
            </a:r>
            <a:pPr algn="ctr" indent="0" marL="0">
              <a:buNone/>
            </a:pPr>
            <a:r>
              <a:rPr lang="en-US" sz="1050" dirty="0">
                <a:solidFill>
                  <a:srgbClr val="CADCFC"/>
                </a:solidFill>
                <a:latin typeface="Calibri" pitchFamily="34" charset="0"/>
                <a:ea typeface="Calibri" pitchFamily="34" charset="-122"/>
                <a:cs typeface="Calibri" pitchFamily="34" charset="-120"/>
              </a:rPr>
              <a:t>routed to the right module</a:t>
            </a:r>
            <a:endParaRPr lang="en-US" sz="1300" dirty="0"/>
          </a:p>
        </p:txBody>
      </p:sp>
      <p:sp>
        <p:nvSpPr>
          <p:cNvPr id="9" name="Shape 7"/>
          <p:cNvSpPr/>
          <p:nvPr/>
        </p:nvSpPr>
        <p:spPr>
          <a:xfrm>
            <a:off x="9189720" y="2194560"/>
            <a:ext cx="2468880" cy="1554480"/>
          </a:xfrm>
          <a:prstGeom prst="roundRect">
            <a:avLst>
              <a:gd name="adj" fmla="val 4706"/>
            </a:avLst>
          </a:prstGeom>
          <a:solidFill>
            <a:srgbClr val="FDECDD"/>
          </a:solidFill>
          <a:ln w="9525">
            <a:solidFill>
              <a:srgbClr val="D9DEE8"/>
            </a:solidFill>
            <a:prstDash val="solid"/>
          </a:ln>
        </p:spPr>
      </p:sp>
      <p:sp>
        <p:nvSpPr>
          <p:cNvPr id="10" name="Text 8"/>
          <p:cNvSpPr/>
          <p:nvPr/>
        </p:nvSpPr>
        <p:spPr>
          <a:xfrm>
            <a:off x="9299448" y="2194560"/>
            <a:ext cx="2249424" cy="155448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Response
</a:t>
            </a:r>
            <a:pPr algn="ctr" indent="0" marL="0">
              <a:buNone/>
            </a:pPr>
            <a:r>
              <a:rPr lang="en-US" sz="1050" dirty="0">
                <a:solidFill>
                  <a:srgbClr val="22262B"/>
                </a:solidFill>
                <a:latin typeface="Calibri" pitchFamily="34" charset="0"/>
                <a:ea typeface="Calibri" pitchFamily="34" charset="-122"/>
                <a:cs typeface="Calibri" pitchFamily="34" charset="-120"/>
              </a:rPr>
              <a:t>formatted in plain English</a:t>
            </a:r>
            <a:endParaRPr lang="en-US" sz="1300" dirty="0"/>
          </a:p>
        </p:txBody>
      </p:sp>
      <p:sp>
        <p:nvSpPr>
          <p:cNvPr id="11" name="Text 9"/>
          <p:cNvSpPr/>
          <p:nvPr/>
        </p:nvSpPr>
        <p:spPr>
          <a:xfrm>
            <a:off x="3063240" y="2514600"/>
            <a:ext cx="457200" cy="914400"/>
          </a:xfrm>
          <a:prstGeom prst="rect">
            <a:avLst/>
          </a:prstGeom>
          <a:noFill/>
          <a:ln/>
        </p:spPr>
        <p:txBody>
          <a:bodyPr wrap="square" lIns="0" tIns="0" rIns="0" bIns="0" rtlCol="0" anchor="ctr"/>
          <a:lstStyle/>
          <a:p>
            <a:pPr algn="ctr" indent="0" marL="0">
              <a:buNone/>
            </a:pPr>
            <a:r>
              <a:rPr lang="en-US" sz="2600" b="1" dirty="0">
                <a:solidFill>
                  <a:srgbClr val="F97316"/>
                </a:solidFill>
                <a:latin typeface="Calibri" pitchFamily="34" charset="0"/>
                <a:ea typeface="Calibri" pitchFamily="34" charset="-122"/>
                <a:cs typeface="Calibri" pitchFamily="34" charset="-120"/>
              </a:rPr>
              <a:t>→</a:t>
            </a:r>
            <a:endParaRPr lang="en-US" sz="2600" dirty="0"/>
          </a:p>
        </p:txBody>
      </p:sp>
      <p:sp>
        <p:nvSpPr>
          <p:cNvPr id="12" name="Text 10"/>
          <p:cNvSpPr/>
          <p:nvPr/>
        </p:nvSpPr>
        <p:spPr>
          <a:xfrm>
            <a:off x="5943600" y="2514600"/>
            <a:ext cx="457200" cy="914400"/>
          </a:xfrm>
          <a:prstGeom prst="rect">
            <a:avLst/>
          </a:prstGeom>
          <a:noFill/>
          <a:ln/>
        </p:spPr>
        <p:txBody>
          <a:bodyPr wrap="square" lIns="0" tIns="0" rIns="0" bIns="0" rtlCol="0" anchor="ctr"/>
          <a:lstStyle/>
          <a:p>
            <a:pPr algn="ctr" indent="0" marL="0">
              <a:buNone/>
            </a:pPr>
            <a:r>
              <a:rPr lang="en-US" sz="2600" b="1" dirty="0">
                <a:solidFill>
                  <a:srgbClr val="F97316"/>
                </a:solidFill>
                <a:latin typeface="Calibri" pitchFamily="34" charset="0"/>
                <a:ea typeface="Calibri" pitchFamily="34" charset="-122"/>
                <a:cs typeface="Calibri" pitchFamily="34" charset="-120"/>
              </a:rPr>
              <a:t>→</a:t>
            </a:r>
            <a:endParaRPr lang="en-US" sz="2600" dirty="0"/>
          </a:p>
        </p:txBody>
      </p:sp>
      <p:sp>
        <p:nvSpPr>
          <p:cNvPr id="13" name="Text 11"/>
          <p:cNvSpPr/>
          <p:nvPr/>
        </p:nvSpPr>
        <p:spPr>
          <a:xfrm>
            <a:off x="8823960" y="2514600"/>
            <a:ext cx="457200" cy="914400"/>
          </a:xfrm>
          <a:prstGeom prst="rect">
            <a:avLst/>
          </a:prstGeom>
          <a:noFill/>
          <a:ln/>
        </p:spPr>
        <p:txBody>
          <a:bodyPr wrap="square" lIns="0" tIns="0" rIns="0" bIns="0" rtlCol="0" anchor="ctr"/>
          <a:lstStyle/>
          <a:p>
            <a:pPr algn="ctr" indent="0" marL="0">
              <a:buNone/>
            </a:pPr>
            <a:r>
              <a:rPr lang="en-US" sz="2600" b="1" dirty="0">
                <a:solidFill>
                  <a:srgbClr val="F97316"/>
                </a:solidFill>
                <a:latin typeface="Calibri" pitchFamily="34" charset="0"/>
                <a:ea typeface="Calibri" pitchFamily="34" charset="-122"/>
                <a:cs typeface="Calibri" pitchFamily="34" charset="-120"/>
              </a:rPr>
              <a:t>→</a:t>
            </a:r>
            <a:endParaRPr lang="en-US" sz="2600" dirty="0"/>
          </a:p>
        </p:txBody>
      </p:sp>
      <p:sp>
        <p:nvSpPr>
          <p:cNvPr id="14" name="Text 12"/>
          <p:cNvSpPr/>
          <p:nvPr/>
        </p:nvSpPr>
        <p:spPr>
          <a:xfrm>
            <a:off x="548640" y="4206240"/>
            <a:ext cx="11064240" cy="914400"/>
          </a:xfrm>
          <a:prstGeom prst="rect">
            <a:avLst/>
          </a:prstGeom>
          <a:noFill/>
          <a:ln/>
        </p:spPr>
        <p:txBody>
          <a:bodyPr wrap="square" lIns="0" tIns="0" rIns="0" bIns="0" rtlCol="0" anchor="ctr"/>
          <a:lstStyle/>
          <a:p>
            <a:pPr indent="0" marL="0">
              <a:buNone/>
            </a:pPr>
            <a:r>
              <a:rPr lang="en-US" sz="1300" dirty="0">
                <a:solidFill>
                  <a:srgbClr val="22262B"/>
                </a:solidFill>
                <a:latin typeface="Calibri" pitchFamily="34" charset="0"/>
                <a:ea typeface="Calibri" pitchFamily="34" charset="-122"/>
                <a:cs typeface="Calibri" pitchFamily="34" charset="-120"/>
              </a:rPr>
              <a:t>Intents: classify, sentiment, entities, summarize, search, topics. This only works because each capability is a clean class the router can call. It is the piece that ties the whole system together.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Web application (bonus frontend)</a:t>
            </a:r>
            <a:endParaRPr lang="en-US" sz="3000" dirty="0"/>
          </a:p>
        </p:txBody>
      </p:sp>
      <p:sp>
        <p:nvSpPr>
          <p:cNvPr id="3" name="Shape 1"/>
          <p:cNvSpPr/>
          <p:nvPr/>
        </p:nvSpPr>
        <p:spPr>
          <a:xfrm>
            <a:off x="548640" y="1600200"/>
            <a:ext cx="3566160" cy="4206240"/>
          </a:xfrm>
          <a:prstGeom prst="roundRect">
            <a:avLst>
              <a:gd name="adj" fmla="val 2051"/>
            </a:avLst>
          </a:prstGeom>
          <a:solidFill>
            <a:srgbClr val="F4F6FA"/>
          </a:solidFill>
          <a:ln w="9525">
            <a:solidFill>
              <a:srgbClr val="D9DEE8"/>
            </a:solidFill>
            <a:prstDash val="solid"/>
          </a:ln>
        </p:spPr>
      </p:sp>
      <p:sp>
        <p:nvSpPr>
          <p:cNvPr id="4" name="Text 2"/>
          <p:cNvSpPr/>
          <p:nvPr/>
        </p:nvSpPr>
        <p:spPr>
          <a:xfrm>
            <a:off x="731520" y="1737360"/>
            <a:ext cx="32004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Analyze an article</a:t>
            </a:r>
            <a:endParaRPr lang="en-US" sz="1450" dirty="0"/>
          </a:p>
        </p:txBody>
      </p:sp>
      <p:sp>
        <p:nvSpPr>
          <p:cNvPr id="5" name="Text 3"/>
          <p:cNvSpPr/>
          <p:nvPr/>
        </p:nvSpPr>
        <p:spPr>
          <a:xfrm>
            <a:off x="731520" y="2167128"/>
            <a:ext cx="3200400" cy="35204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Paste text, get category and confidence, sentiment and emotion, entities, key terms, and a summary.</a:t>
            </a:r>
            <a:endParaRPr lang="en-US" sz="1150" dirty="0"/>
          </a:p>
        </p:txBody>
      </p:sp>
      <p:sp>
        <p:nvSpPr>
          <p:cNvPr id="6" name="Shape 4"/>
          <p:cNvSpPr/>
          <p:nvPr/>
        </p:nvSpPr>
        <p:spPr>
          <a:xfrm>
            <a:off x="4297680" y="1600200"/>
            <a:ext cx="3566160" cy="4206240"/>
          </a:xfrm>
          <a:prstGeom prst="roundRect">
            <a:avLst>
              <a:gd name="adj" fmla="val 2051"/>
            </a:avLst>
          </a:prstGeom>
          <a:solidFill>
            <a:srgbClr val="EEF3FB"/>
          </a:solidFill>
          <a:ln w="9525">
            <a:solidFill>
              <a:srgbClr val="D9DEE8"/>
            </a:solidFill>
            <a:prstDash val="solid"/>
          </a:ln>
        </p:spPr>
      </p:sp>
      <p:sp>
        <p:nvSpPr>
          <p:cNvPr id="7" name="Text 5"/>
          <p:cNvSpPr/>
          <p:nvPr/>
        </p:nvSpPr>
        <p:spPr>
          <a:xfrm>
            <a:off x="4480560" y="1737360"/>
            <a:ext cx="32004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Ask NewsBot</a:t>
            </a:r>
            <a:endParaRPr lang="en-US" sz="1450" dirty="0"/>
          </a:p>
        </p:txBody>
      </p:sp>
      <p:sp>
        <p:nvSpPr>
          <p:cNvPr id="8" name="Text 6"/>
          <p:cNvSpPr/>
          <p:nvPr/>
        </p:nvSpPr>
        <p:spPr>
          <a:xfrm>
            <a:off x="4480560" y="2167128"/>
            <a:ext cx="3200400" cy="35204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Type a question about the article in plain English and get a routed answer.</a:t>
            </a:r>
            <a:endParaRPr lang="en-US" sz="1150" dirty="0"/>
          </a:p>
        </p:txBody>
      </p:sp>
      <p:sp>
        <p:nvSpPr>
          <p:cNvPr id="9" name="Shape 7"/>
          <p:cNvSpPr/>
          <p:nvPr/>
        </p:nvSpPr>
        <p:spPr>
          <a:xfrm>
            <a:off x="8046720" y="1600200"/>
            <a:ext cx="3566160" cy="4206240"/>
          </a:xfrm>
          <a:prstGeom prst="roundRect">
            <a:avLst>
              <a:gd name="adj" fmla="val 2051"/>
            </a:avLst>
          </a:prstGeom>
          <a:solidFill>
            <a:srgbClr val="FDECDD"/>
          </a:solidFill>
          <a:ln w="9525">
            <a:solidFill>
              <a:srgbClr val="D9DEE8"/>
            </a:solidFill>
            <a:prstDash val="solid"/>
          </a:ln>
        </p:spPr>
      </p:sp>
      <p:sp>
        <p:nvSpPr>
          <p:cNvPr id="10" name="Text 8"/>
          <p:cNvSpPr/>
          <p:nvPr/>
        </p:nvSpPr>
        <p:spPr>
          <a:xfrm>
            <a:off x="8229600" y="1737360"/>
            <a:ext cx="32004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Find similar articles</a:t>
            </a:r>
            <a:endParaRPr lang="en-US" sz="1450" dirty="0"/>
          </a:p>
        </p:txBody>
      </p:sp>
      <p:sp>
        <p:nvSpPr>
          <p:cNvPr id="11" name="Text 9"/>
          <p:cNvSpPr/>
          <p:nvPr/>
        </p:nvSpPr>
        <p:spPr>
          <a:xfrm>
            <a:off x="8229600" y="2167128"/>
            <a:ext cx="3200400" cy="352044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Enter a phrase and get the closest coverage by meaning, ranked by similarity.</a:t>
            </a:r>
            <a:endParaRPr lang="en-US" sz="1150" dirty="0"/>
          </a:p>
        </p:txBody>
      </p:sp>
      <p:sp>
        <p:nvSpPr>
          <p:cNvPr id="12" name="Text 10"/>
          <p:cNvSpPr/>
          <p:nvPr/>
        </p:nvSpPr>
        <p:spPr>
          <a:xfrm>
            <a:off x="548640" y="5989320"/>
            <a:ext cx="10972800" cy="365760"/>
          </a:xfrm>
          <a:prstGeom prst="rect">
            <a:avLst/>
          </a:prstGeom>
          <a:noFill/>
          <a:ln/>
        </p:spPr>
        <p:txBody>
          <a:bodyPr wrap="square" lIns="0" tIns="0" rIns="0" bIns="0" rtlCol="0" anchor="ctr"/>
          <a:lstStyle/>
          <a:p>
            <a:pPr indent="0" marL="0">
              <a:buNone/>
            </a:pPr>
            <a:r>
              <a:rPr lang="en-US" sz="1100" i="1" dirty="0">
                <a:solidFill>
                  <a:srgbClr val="5F6B7A"/>
                </a:solidFill>
                <a:latin typeface="Calibri" pitchFamily="34" charset="0"/>
                <a:ea typeface="Calibri" pitchFamily="34" charset="-122"/>
                <a:cs typeface="Calibri" pitchFamily="34" charset="-120"/>
              </a:rPr>
              <a:t>Same module code, exposed in a browser so a non-technical user can use the system. Flask + HTML/CSS/JS.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Live demo — four fresh articles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206240"/>
                <a:gridCol w="2194560"/>
                <a:gridCol w="2194560"/>
                <a:gridCol w="246888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Article</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Predicted</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Confidence</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Sentiment / emotion</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1E2761"/>
                    </a:solidFill>
                  </a:tcPr>
                </a:tc>
              </a:tr>
              <a:tr h="566928">
                <a:tc>
                  <a:txBody>
                    <a:bodyPr/>
                    <a:lstStyle/>
                    <a:p>
                      <a:pPr algn="l" indent="0" marL="0">
                        <a:buNone/>
                      </a:pPr>
                      <a:r>
                        <a:rPr lang="en-US" sz="1300" dirty="0">
                          <a:solidFill>
                            <a:srgbClr val="22262B"/>
                          </a:solidFill>
                          <a:latin typeface="Calibri" pitchFamily="34" charset="0"/>
                          <a:ea typeface="Calibri" pitchFamily="34" charset="-122"/>
                          <a:cs typeface="Calibri" pitchFamily="34" charset="-120"/>
                        </a:rPr>
                        <a:t>AI system launch</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62B"/>
                          </a:solidFill>
                          <a:latin typeface="Calibri" pitchFamily="34" charset="0"/>
                          <a:ea typeface="Calibri" pitchFamily="34" charset="-122"/>
                          <a:cs typeface="Calibri" pitchFamily="34" charset="-120"/>
                        </a:rPr>
                        <a:t>tech</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0.91</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positive / neutral</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22262B"/>
                          </a:solidFill>
                          <a:latin typeface="Calibri" pitchFamily="34" charset="0"/>
                          <a:ea typeface="Calibri" pitchFamily="34" charset="-122"/>
                          <a:cs typeface="Calibri" pitchFamily="34" charset="-120"/>
                        </a:rPr>
                        <a:t>Nasdaq and Apple selloff</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b="1" dirty="0">
                          <a:solidFill>
                            <a:srgbClr val="22262B"/>
                          </a:solidFill>
                          <a:latin typeface="Calibri" pitchFamily="34" charset="0"/>
                          <a:ea typeface="Calibri" pitchFamily="34" charset="-122"/>
                          <a:cs typeface="Calibri" pitchFamily="34" charset="-120"/>
                        </a:rPr>
                        <a:t>business</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positive / neutral</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r>
              <a:tr h="566928">
                <a:tc>
                  <a:txBody>
                    <a:bodyPr/>
                    <a:lstStyle/>
                    <a:p>
                      <a:pPr algn="l" indent="0" marL="0">
                        <a:buNone/>
                      </a:pPr>
                      <a:r>
                        <a:rPr lang="en-US" sz="1300" dirty="0">
                          <a:solidFill>
                            <a:srgbClr val="22262B"/>
                          </a:solidFill>
                          <a:latin typeface="Calibri" pitchFamily="34" charset="0"/>
                          <a:ea typeface="Calibri" pitchFamily="34" charset="-122"/>
                          <a:cs typeface="Calibri" pitchFamily="34" charset="-120"/>
                        </a:rPr>
                        <a:t>World Cup and Stanley Cup</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62B"/>
                          </a:solidFill>
                          <a:latin typeface="Calibri" pitchFamily="34" charset="0"/>
                          <a:ea typeface="Calibri" pitchFamily="34" charset="-122"/>
                          <a:cs typeface="Calibri" pitchFamily="34" charset="-120"/>
                        </a:rPr>
                        <a:t>sport</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0.96</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positive / joy</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22262B"/>
                          </a:solidFill>
                          <a:latin typeface="Calibri" pitchFamily="34" charset="0"/>
                          <a:ea typeface="Calibri" pitchFamily="34" charset="-122"/>
                          <a:cs typeface="Calibri" pitchFamily="34" charset="-120"/>
                        </a:rPr>
                        <a:t>UK prime minister resigns</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b="1" dirty="0">
                          <a:solidFill>
                            <a:srgbClr val="22262B"/>
                          </a:solidFill>
                          <a:latin typeface="Calibri" pitchFamily="34" charset="0"/>
                          <a:ea typeface="Calibri" pitchFamily="34" charset="-122"/>
                          <a:cs typeface="Calibri" pitchFamily="34" charset="-120"/>
                        </a:rPr>
                        <a:t>politics</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positive / neutral</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r>
            </a:tbl>
          </a:graphicData>
        </a:graphic>
      </p:graphicFrame>
      <p:sp>
        <p:nvSpPr>
          <p:cNvPr id="4" name="Text 1"/>
          <p:cNvSpPr/>
          <p:nvPr/>
        </p:nvSpPr>
        <p:spPr>
          <a:xfrm>
            <a:off x="548640" y="5212080"/>
            <a:ext cx="10972800" cy="45720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All four correct with high confidence. Short off-topic input returns 'uncertain' rather than a forced label.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Discovered topics (LDA, no labels)</a:t>
            </a:r>
            <a:endParaRPr lang="en-US" sz="3000" dirty="0"/>
          </a:p>
        </p:txBody>
      </p:sp>
      <p:sp>
        <p:nvSpPr>
          <p:cNvPr id="3" name="Shape 1"/>
          <p:cNvSpPr/>
          <p:nvPr/>
        </p:nvSpPr>
        <p:spPr>
          <a:xfrm>
            <a:off x="640080" y="1600200"/>
            <a:ext cx="457200" cy="457200"/>
          </a:xfrm>
          <a:prstGeom prst="ellipse">
            <a:avLst/>
          </a:prstGeom>
          <a:solidFill>
            <a:srgbClr val="1E2761"/>
          </a:solidFill>
          <a:ln/>
        </p:spPr>
      </p:sp>
      <p:sp>
        <p:nvSpPr>
          <p:cNvPr id="4" name="Text 2"/>
          <p:cNvSpPr/>
          <p:nvPr/>
        </p:nvSpPr>
        <p:spPr>
          <a:xfrm>
            <a:off x="64008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a:t>
            </a:r>
            <a:endParaRPr lang="en-US" sz="1600" dirty="0"/>
          </a:p>
        </p:txBody>
      </p:sp>
      <p:sp>
        <p:nvSpPr>
          <p:cNvPr id="5" name="Shape 3"/>
          <p:cNvSpPr/>
          <p:nvPr/>
        </p:nvSpPr>
        <p:spPr>
          <a:xfrm>
            <a:off x="1280160" y="1600200"/>
            <a:ext cx="10241280" cy="713232"/>
          </a:xfrm>
          <a:prstGeom prst="roundRect">
            <a:avLst>
              <a:gd name="adj" fmla="val 7692"/>
            </a:avLst>
          </a:prstGeom>
          <a:solidFill>
            <a:srgbClr val="EEF3FB"/>
          </a:solidFill>
          <a:ln w="6350">
            <a:solidFill>
              <a:srgbClr val="D9DEE8"/>
            </a:solidFill>
            <a:prstDash val="solid"/>
          </a:ln>
        </p:spPr>
      </p:sp>
      <p:sp>
        <p:nvSpPr>
          <p:cNvPr id="6" name="Text 4"/>
          <p:cNvSpPr/>
          <p:nvPr/>
        </p:nvSpPr>
        <p:spPr>
          <a:xfrm>
            <a:off x="1463040" y="1600200"/>
            <a:ext cx="9875520" cy="7132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Topic 0 — Sport    </a:t>
            </a:r>
            <a:pPr indent="0" marL="0">
              <a:buNone/>
            </a:pPr>
            <a:r>
              <a:rPr lang="en-US" sz="1200" dirty="0">
                <a:solidFill>
                  <a:srgbClr val="22262B"/>
                </a:solidFill>
                <a:latin typeface="Calibri" pitchFamily="34" charset="0"/>
                <a:ea typeface="Calibri" pitchFamily="34" charset="-122"/>
                <a:cs typeface="Calibri" pitchFamily="34" charset="-120"/>
              </a:rPr>
              <a:t>game, player, england, time, first, year</a:t>
            </a:r>
            <a:endParaRPr lang="en-US" sz="1300" dirty="0"/>
          </a:p>
        </p:txBody>
      </p:sp>
      <p:sp>
        <p:nvSpPr>
          <p:cNvPr id="7" name="Shape 5"/>
          <p:cNvSpPr/>
          <p:nvPr/>
        </p:nvSpPr>
        <p:spPr>
          <a:xfrm>
            <a:off x="640080" y="2496312"/>
            <a:ext cx="457200" cy="457200"/>
          </a:xfrm>
          <a:prstGeom prst="ellipse">
            <a:avLst/>
          </a:prstGeom>
          <a:solidFill>
            <a:srgbClr val="1E2761"/>
          </a:solidFill>
          <a:ln/>
        </p:spPr>
      </p:sp>
      <p:sp>
        <p:nvSpPr>
          <p:cNvPr id="8" name="Text 6"/>
          <p:cNvSpPr/>
          <p:nvPr/>
        </p:nvSpPr>
        <p:spPr>
          <a:xfrm>
            <a:off x="640080" y="24963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Shape 7"/>
          <p:cNvSpPr/>
          <p:nvPr/>
        </p:nvSpPr>
        <p:spPr>
          <a:xfrm>
            <a:off x="1280160" y="2496312"/>
            <a:ext cx="10241280" cy="713232"/>
          </a:xfrm>
          <a:prstGeom prst="roundRect">
            <a:avLst>
              <a:gd name="adj" fmla="val 7692"/>
            </a:avLst>
          </a:prstGeom>
          <a:solidFill>
            <a:srgbClr val="F4F6FA"/>
          </a:solidFill>
          <a:ln w="6350">
            <a:solidFill>
              <a:srgbClr val="D9DEE8"/>
            </a:solidFill>
            <a:prstDash val="solid"/>
          </a:ln>
        </p:spPr>
      </p:sp>
      <p:sp>
        <p:nvSpPr>
          <p:cNvPr id="10" name="Text 8"/>
          <p:cNvSpPr/>
          <p:nvPr/>
        </p:nvSpPr>
        <p:spPr>
          <a:xfrm>
            <a:off x="1463040" y="2496312"/>
            <a:ext cx="9875520" cy="7132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Topic 1 — Entertainment    </a:t>
            </a:r>
            <a:pPr indent="0" marL="0">
              <a:buNone/>
            </a:pPr>
            <a:r>
              <a:rPr lang="en-US" sz="1200" dirty="0">
                <a:solidFill>
                  <a:srgbClr val="22262B"/>
                </a:solidFill>
                <a:latin typeface="Calibri" pitchFamily="34" charset="0"/>
                <a:ea typeface="Calibri" pitchFamily="34" charset="-122"/>
                <a:cs typeface="Calibri" pitchFamily="34" charset="-120"/>
              </a:rPr>
              <a:t>film, best, award, show, star, year</a:t>
            </a:r>
            <a:endParaRPr lang="en-US" sz="1300" dirty="0"/>
          </a:p>
        </p:txBody>
      </p:sp>
      <p:sp>
        <p:nvSpPr>
          <p:cNvPr id="11" name="Shape 9"/>
          <p:cNvSpPr/>
          <p:nvPr/>
        </p:nvSpPr>
        <p:spPr>
          <a:xfrm>
            <a:off x="640080" y="3392424"/>
            <a:ext cx="457200" cy="457200"/>
          </a:xfrm>
          <a:prstGeom prst="ellipse">
            <a:avLst/>
          </a:prstGeom>
          <a:solidFill>
            <a:srgbClr val="1E2761"/>
          </a:solidFill>
          <a:ln/>
        </p:spPr>
      </p:sp>
      <p:sp>
        <p:nvSpPr>
          <p:cNvPr id="12" name="Text 10"/>
          <p:cNvSpPr/>
          <p:nvPr/>
        </p:nvSpPr>
        <p:spPr>
          <a:xfrm>
            <a:off x="640080" y="33924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Shape 11"/>
          <p:cNvSpPr/>
          <p:nvPr/>
        </p:nvSpPr>
        <p:spPr>
          <a:xfrm>
            <a:off x="1280160" y="3392424"/>
            <a:ext cx="10241280" cy="713232"/>
          </a:xfrm>
          <a:prstGeom prst="roundRect">
            <a:avLst>
              <a:gd name="adj" fmla="val 7692"/>
            </a:avLst>
          </a:prstGeom>
          <a:solidFill>
            <a:srgbClr val="EEF3FB"/>
          </a:solidFill>
          <a:ln w="6350">
            <a:solidFill>
              <a:srgbClr val="D9DEE8"/>
            </a:solidFill>
            <a:prstDash val="solid"/>
          </a:ln>
        </p:spPr>
      </p:sp>
      <p:sp>
        <p:nvSpPr>
          <p:cNvPr id="14" name="Text 12"/>
          <p:cNvSpPr/>
          <p:nvPr/>
        </p:nvSpPr>
        <p:spPr>
          <a:xfrm>
            <a:off x="1463040" y="3392424"/>
            <a:ext cx="9875520" cy="7132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Topic 2 — Tech / mobile    </a:t>
            </a:r>
            <a:pPr indent="0" marL="0">
              <a:buNone/>
            </a:pPr>
            <a:r>
              <a:rPr lang="en-US" sz="1200" dirty="0">
                <a:solidFill>
                  <a:srgbClr val="22262B"/>
                </a:solidFill>
                <a:latin typeface="Calibri" pitchFamily="34" charset="0"/>
                <a:ea typeface="Calibri" pitchFamily="34" charset="-122"/>
                <a:cs typeface="Calibri" pitchFamily="34" charset="-120"/>
              </a:rPr>
              <a:t>mobile, technology, phone, service, people</a:t>
            </a:r>
            <a:endParaRPr lang="en-US" sz="1300" dirty="0"/>
          </a:p>
        </p:txBody>
      </p:sp>
      <p:sp>
        <p:nvSpPr>
          <p:cNvPr id="15" name="Shape 13"/>
          <p:cNvSpPr/>
          <p:nvPr/>
        </p:nvSpPr>
        <p:spPr>
          <a:xfrm>
            <a:off x="640080" y="4288536"/>
            <a:ext cx="457200" cy="457200"/>
          </a:xfrm>
          <a:prstGeom prst="ellipse">
            <a:avLst/>
          </a:prstGeom>
          <a:solidFill>
            <a:srgbClr val="1E2761"/>
          </a:solidFill>
          <a:ln/>
        </p:spPr>
      </p:sp>
      <p:sp>
        <p:nvSpPr>
          <p:cNvPr id="16" name="Text 14"/>
          <p:cNvSpPr/>
          <p:nvPr/>
        </p:nvSpPr>
        <p:spPr>
          <a:xfrm>
            <a:off x="640080" y="42885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Shape 15"/>
          <p:cNvSpPr/>
          <p:nvPr/>
        </p:nvSpPr>
        <p:spPr>
          <a:xfrm>
            <a:off x="1280160" y="4288536"/>
            <a:ext cx="10241280" cy="713232"/>
          </a:xfrm>
          <a:prstGeom prst="roundRect">
            <a:avLst>
              <a:gd name="adj" fmla="val 7692"/>
            </a:avLst>
          </a:prstGeom>
          <a:solidFill>
            <a:srgbClr val="F4F6FA"/>
          </a:solidFill>
          <a:ln w="6350">
            <a:solidFill>
              <a:srgbClr val="D9DEE8"/>
            </a:solidFill>
            <a:prstDash val="solid"/>
          </a:ln>
        </p:spPr>
      </p:sp>
      <p:sp>
        <p:nvSpPr>
          <p:cNvPr id="18" name="Text 16"/>
          <p:cNvSpPr/>
          <p:nvPr/>
        </p:nvSpPr>
        <p:spPr>
          <a:xfrm>
            <a:off x="1463040" y="4288536"/>
            <a:ext cx="9875520" cy="7132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Topic 3 — Business / markets    </a:t>
            </a:r>
            <a:pPr indent="0" marL="0">
              <a:buNone/>
            </a:pPr>
            <a:r>
              <a:rPr lang="en-US" sz="1200" dirty="0">
                <a:solidFill>
                  <a:srgbClr val="22262B"/>
                </a:solidFill>
                <a:latin typeface="Calibri" pitchFamily="34" charset="0"/>
                <a:ea typeface="Calibri" pitchFamily="34" charset="-122"/>
                <a:cs typeface="Calibri" pitchFamily="34" charset="-120"/>
              </a:rPr>
              <a:t>company, market, sale, firm, tax, year</a:t>
            </a:r>
            <a:endParaRPr lang="en-US" sz="1300" dirty="0"/>
          </a:p>
        </p:txBody>
      </p:sp>
      <p:sp>
        <p:nvSpPr>
          <p:cNvPr id="19" name="Shape 17"/>
          <p:cNvSpPr/>
          <p:nvPr/>
        </p:nvSpPr>
        <p:spPr>
          <a:xfrm>
            <a:off x="640080" y="5184648"/>
            <a:ext cx="457200" cy="457200"/>
          </a:xfrm>
          <a:prstGeom prst="ellipse">
            <a:avLst/>
          </a:prstGeom>
          <a:solidFill>
            <a:srgbClr val="1E2761"/>
          </a:solidFill>
          <a:ln/>
        </p:spPr>
      </p:sp>
      <p:sp>
        <p:nvSpPr>
          <p:cNvPr id="20" name="Text 18"/>
          <p:cNvSpPr/>
          <p:nvPr/>
        </p:nvSpPr>
        <p:spPr>
          <a:xfrm>
            <a:off x="640080" y="51846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1" name="Shape 19"/>
          <p:cNvSpPr/>
          <p:nvPr/>
        </p:nvSpPr>
        <p:spPr>
          <a:xfrm>
            <a:off x="1280160" y="5184648"/>
            <a:ext cx="10241280" cy="713232"/>
          </a:xfrm>
          <a:prstGeom prst="roundRect">
            <a:avLst>
              <a:gd name="adj" fmla="val 7692"/>
            </a:avLst>
          </a:prstGeom>
          <a:solidFill>
            <a:srgbClr val="EEF3FB"/>
          </a:solidFill>
          <a:ln w="6350">
            <a:solidFill>
              <a:srgbClr val="D9DEE8"/>
            </a:solidFill>
            <a:prstDash val="solid"/>
          </a:ln>
        </p:spPr>
      </p:sp>
      <p:sp>
        <p:nvSpPr>
          <p:cNvPr id="22" name="Text 20"/>
          <p:cNvSpPr/>
          <p:nvPr/>
        </p:nvSpPr>
        <p:spPr>
          <a:xfrm>
            <a:off x="1463040" y="5184648"/>
            <a:ext cx="9875520" cy="7132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Topic 4 — Politics    </a:t>
            </a:r>
            <a:pPr indent="0" marL="0">
              <a:buNone/>
            </a:pPr>
            <a:r>
              <a:rPr lang="en-US" sz="1200" dirty="0">
                <a:solidFill>
                  <a:srgbClr val="22262B"/>
                </a:solidFill>
                <a:latin typeface="Calibri" pitchFamily="34" charset="0"/>
                <a:ea typeface="Calibri" pitchFamily="34" charset="-122"/>
                <a:cs typeface="Calibri" pitchFamily="34" charset="-120"/>
              </a:rPr>
              <a:t>government, labour, party, election, people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Classification results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1280160" y="1737360"/>
          <a:ext cx="9601200" cy="914400"/>
        </p:xfrm>
        <a:graphic>
          <a:graphicData uri="http://schemas.openxmlformats.org/drawingml/2006/table">
            <a:tbl>
              <a:tblPr/>
              <a:tblGrid>
                <a:gridCol w="3566160"/>
                <a:gridCol w="2011680"/>
                <a:gridCol w="2011680"/>
                <a:gridCol w="2011680"/>
              </a:tblGrid>
              <a:tr h="60350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CV accuracy</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Test accuracy</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Macro-F1</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1E2761"/>
                    </a:solidFill>
                  </a:tcPr>
                </a:tc>
              </a:tr>
              <a:tr h="603504">
                <a:tc>
                  <a:txBody>
                    <a:bodyPr/>
                    <a:lstStyle/>
                    <a:p>
                      <a:pPr algn="l" indent="0" marL="0">
                        <a:buNone/>
                      </a:pPr>
                      <a:r>
                        <a:rPr lang="en-US" sz="1300" b="1" dirty="0">
                          <a:solidFill>
                            <a:srgbClr val="22262B"/>
                          </a:solidFill>
                          <a:latin typeface="Calibri" pitchFamily="34" charset="0"/>
                          <a:ea typeface="Calibri" pitchFamily="34" charset="-122"/>
                          <a:cs typeface="Calibri" pitchFamily="34" charset="-120"/>
                        </a:rPr>
                        <a:t>Linear SVM</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DECDD"/>
                    </a:solidFill>
                  </a:tcPr>
                </a:tc>
                <a:tc>
                  <a:txBody>
                    <a:bodyPr/>
                    <a:lstStyle/>
                    <a:p>
                      <a:pPr algn="ctr" indent="0" marL="0">
                        <a:buNone/>
                      </a:pPr>
                      <a:r>
                        <a:rPr lang="en-US" sz="1300" b="1" dirty="0">
                          <a:solidFill>
                            <a:srgbClr val="22262B"/>
                          </a:solidFill>
                          <a:latin typeface="Calibri" pitchFamily="34" charset="0"/>
                          <a:ea typeface="Calibri" pitchFamily="34" charset="-122"/>
                          <a:cs typeface="Calibri" pitchFamily="34" charset="-120"/>
                        </a:rPr>
                        <a:t>0.972</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DECDD"/>
                    </a:solidFill>
                  </a:tcPr>
                </a:tc>
                <a:tc>
                  <a:txBody>
                    <a:bodyPr/>
                    <a:lstStyle/>
                    <a:p>
                      <a:pPr algn="ctr" indent="0" marL="0">
                        <a:buNone/>
                      </a:pPr>
                      <a:r>
                        <a:rPr lang="en-US" sz="1300" b="1" dirty="0">
                          <a:solidFill>
                            <a:srgbClr val="22262B"/>
                          </a:solidFill>
                          <a:latin typeface="Calibri" pitchFamily="34" charset="0"/>
                          <a:ea typeface="Calibri" pitchFamily="34" charset="-122"/>
                          <a:cs typeface="Calibri" pitchFamily="34" charset="-120"/>
                        </a:rPr>
                        <a:t>0.975</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DECDD"/>
                    </a:solidFill>
                  </a:tcPr>
                </a:tc>
                <a:tc>
                  <a:txBody>
                    <a:bodyPr/>
                    <a:lstStyle/>
                    <a:p>
                      <a:pPr algn="ctr" indent="0" marL="0">
                        <a:buNone/>
                      </a:pPr>
                      <a:r>
                        <a:rPr lang="en-US" sz="1300" b="1" dirty="0">
                          <a:solidFill>
                            <a:srgbClr val="22262B"/>
                          </a:solidFill>
                          <a:latin typeface="Calibri" pitchFamily="34" charset="0"/>
                          <a:ea typeface="Calibri" pitchFamily="34" charset="-122"/>
                          <a:cs typeface="Calibri" pitchFamily="34" charset="-120"/>
                        </a:rPr>
                        <a:t>0.975</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DECDD"/>
                    </a:solidFill>
                  </a:tcPr>
                </a:tc>
              </a:tr>
              <a:tr h="603504">
                <a:tc>
                  <a:txBody>
                    <a:bodyPr/>
                    <a:lstStyle/>
                    <a:p>
                      <a:pPr algn="l" indent="0" marL="0">
                        <a:buNone/>
                      </a:pPr>
                      <a:r>
                        <a:rPr lang="en-US" sz="1300" dirty="0">
                          <a:solidFill>
                            <a:srgbClr val="22262B"/>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0.968</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0.970</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r>
              <a:tr h="603504">
                <a:tc>
                  <a:txBody>
                    <a:bodyPr/>
                    <a:lstStyle/>
                    <a:p>
                      <a:pPr algn="l" indent="0" marL="0">
                        <a:buNone/>
                      </a:pPr>
                      <a:r>
                        <a:rPr lang="en-US" sz="1300" dirty="0">
                          <a:solidFill>
                            <a:srgbClr val="22262B"/>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0.951</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0.948</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0.947</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FFFFF"/>
                    </a:solidFill>
                  </a:tcPr>
                </a:tc>
              </a:tr>
              <a:tr h="603504">
                <a:tc>
                  <a:txBody>
                    <a:bodyPr/>
                    <a:lstStyle/>
                    <a:p>
                      <a:pPr algn="l" indent="0" marL="0">
                        <a:buNone/>
                      </a:pPr>
                      <a:r>
                        <a:rPr lang="en-US" sz="1300" dirty="0">
                          <a:solidFill>
                            <a:srgbClr val="22262B"/>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0.945</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0.943</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c>
                  <a:txBody>
                    <a:bodyPr/>
                    <a:lstStyle/>
                    <a:p>
                      <a:pPr algn="ctr" indent="0" marL="0">
                        <a:buNone/>
                      </a:pPr>
                      <a:r>
                        <a:rPr lang="en-US" sz="1300" dirty="0">
                          <a:solidFill>
                            <a:srgbClr val="22262B"/>
                          </a:solidFill>
                          <a:latin typeface="Calibri" pitchFamily="34" charset="0"/>
                          <a:ea typeface="Calibri" pitchFamily="34" charset="-122"/>
                          <a:cs typeface="Calibri" pitchFamily="34" charset="-120"/>
                        </a:rPr>
                        <a:t>0.942</a:t>
                      </a:r>
                      <a:endParaRPr lang="en-US" sz="1300" dirty="0">
                        <a:latin typeface="Calibri" charset="0"/>
                        <a:ea typeface="Calibri" charset="0"/>
                        <a:cs typeface="Calibri" charset="0"/>
                      </a:endParaRPr>
                    </a:p>
                  </a:txBody>
                  <a:tcPr marL="91440" marR="91440" marT="45720" marB="45720" anchor="ctr">
                    <a:lnL w="6350" cap="flat" cmpd="sng" algn="ctr">
                      <a:solidFill>
                        <a:srgbClr val="DFE4EC"/>
                      </a:solidFill>
                      <a:prstDash val="solid"/>
                      <a:round/>
                      <a:headEnd type="none" w="med" len="med"/>
                      <a:tailEnd type="none" w="med" len="med"/>
                    </a:lnL>
                    <a:lnR w="6350" cap="flat" cmpd="sng" algn="ctr">
                      <a:solidFill>
                        <a:srgbClr val="DFE4EC"/>
                      </a:solidFill>
                      <a:prstDash val="solid"/>
                      <a:round/>
                      <a:headEnd type="none" w="med" len="med"/>
                      <a:tailEnd type="none" w="med" len="med"/>
                    </a:lnR>
                    <a:lnT w="6350" cap="flat" cmpd="sng" algn="ctr">
                      <a:solidFill>
                        <a:srgbClr val="DFE4EC"/>
                      </a:solidFill>
                      <a:prstDash val="solid"/>
                      <a:round/>
                      <a:headEnd type="none" w="med" len="med"/>
                      <a:tailEnd type="none" w="med" len="med"/>
                    </a:lnT>
                    <a:lnB w="6350" cap="flat" cmpd="sng" algn="ctr">
                      <a:solidFill>
                        <a:srgbClr val="DFE4EC"/>
                      </a:solidFill>
                      <a:prstDash val="solid"/>
                      <a:round/>
                      <a:headEnd type="none" w="med" len="med"/>
                      <a:tailEnd type="none" w="med" len="med"/>
                    </a:lnB>
                    <a:solidFill>
                      <a:srgbClr val="F4F6FA"/>
                    </a:solidFill>
                  </a:tcPr>
                </a:tc>
              </a:tr>
            </a:tbl>
          </a:graphicData>
        </a:graphic>
      </p:graphicFrame>
      <p:sp>
        <p:nvSpPr>
          <p:cNvPr id="4" name="Text 1"/>
          <p:cNvSpPr/>
          <p:nvPr/>
        </p:nvSpPr>
        <p:spPr>
          <a:xfrm>
            <a:off x="1280160" y="5120640"/>
            <a:ext cx="9601200" cy="548640"/>
          </a:xfrm>
          <a:prstGeom prst="rect">
            <a:avLst/>
          </a:prstGeom>
          <a:noFill/>
          <a:ln/>
        </p:spPr>
        <p:txBody>
          <a:bodyPr wrap="square" lIns="0" tIns="0" rIns="0" bIns="0" rtlCol="0" anchor="ctr"/>
          <a:lstStyle/>
          <a:p>
            <a:pPr indent="0" marL="0">
              <a:buNone/>
            </a:pPr>
            <a:r>
              <a:rPr lang="en-US" sz="1300" i="1" dirty="0">
                <a:solidFill>
                  <a:srgbClr val="5F6B7A"/>
                </a:solidFill>
                <a:latin typeface="Calibri" pitchFamily="34" charset="0"/>
                <a:ea typeface="Calibri" pitchFamily="34" charset="-122"/>
                <a:cs typeface="Calibri" pitchFamily="34" charset="-120"/>
              </a:rPr>
              <a:t>97.5% test accuracy, macro-F1 0.975. The only real confusions are politics and business articles that share vocabulary such as tax and economy.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Business value and use cases</a:t>
            </a:r>
            <a:endParaRPr lang="en-US" sz="3000" dirty="0"/>
          </a:p>
        </p:txBody>
      </p:sp>
      <p:sp>
        <p:nvSpPr>
          <p:cNvPr id="3" name="Shape 1"/>
          <p:cNvSpPr/>
          <p:nvPr/>
        </p:nvSpPr>
        <p:spPr>
          <a:xfrm>
            <a:off x="548640" y="1600200"/>
            <a:ext cx="5394960" cy="2103120"/>
          </a:xfrm>
          <a:prstGeom prst="roundRect">
            <a:avLst>
              <a:gd name="adj" fmla="val 3478"/>
            </a:avLst>
          </a:prstGeom>
          <a:solidFill>
            <a:srgbClr val="F4F6FA"/>
          </a:solidFill>
          <a:ln w="9525">
            <a:solidFill>
              <a:srgbClr val="D9DEE8"/>
            </a:solidFill>
            <a:prstDash val="solid"/>
          </a:ln>
        </p:spPr>
      </p:sp>
      <p:sp>
        <p:nvSpPr>
          <p:cNvPr id="4" name="Text 2"/>
          <p:cNvSpPr/>
          <p:nvPr/>
        </p:nvSpPr>
        <p:spPr>
          <a:xfrm>
            <a:off x="731520" y="173736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Corporate communications</a:t>
            </a:r>
            <a:endParaRPr lang="en-US" sz="1450" dirty="0"/>
          </a:p>
        </p:txBody>
      </p:sp>
      <p:sp>
        <p:nvSpPr>
          <p:cNvPr id="5" name="Text 3"/>
          <p:cNvSpPr/>
          <p:nvPr/>
        </p:nvSpPr>
        <p:spPr>
          <a:xfrm>
            <a:off x="731520" y="2167128"/>
            <a:ext cx="5029200" cy="141732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Monitor brand mentions and alert when sentiment turns negative, the moment that matters most.</a:t>
            </a:r>
            <a:endParaRPr lang="en-US" sz="1150" dirty="0"/>
          </a:p>
        </p:txBody>
      </p:sp>
      <p:sp>
        <p:nvSpPr>
          <p:cNvPr id="6" name="Shape 4"/>
          <p:cNvSpPr/>
          <p:nvPr/>
        </p:nvSpPr>
        <p:spPr>
          <a:xfrm>
            <a:off x="6217920" y="1600200"/>
            <a:ext cx="5394960" cy="2103120"/>
          </a:xfrm>
          <a:prstGeom prst="roundRect">
            <a:avLst>
              <a:gd name="adj" fmla="val 3478"/>
            </a:avLst>
          </a:prstGeom>
          <a:solidFill>
            <a:srgbClr val="EEF3FB"/>
          </a:solidFill>
          <a:ln w="9525">
            <a:solidFill>
              <a:srgbClr val="D9DEE8"/>
            </a:solidFill>
            <a:prstDash val="solid"/>
          </a:ln>
        </p:spPr>
      </p:sp>
      <p:sp>
        <p:nvSpPr>
          <p:cNvPr id="7" name="Text 5"/>
          <p:cNvSpPr/>
          <p:nvPr/>
        </p:nvSpPr>
        <p:spPr>
          <a:xfrm>
            <a:off x="6400800" y="173736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Investor relations and finance</a:t>
            </a:r>
            <a:endParaRPr lang="en-US" sz="1450" dirty="0"/>
          </a:p>
        </p:txBody>
      </p:sp>
      <p:sp>
        <p:nvSpPr>
          <p:cNvPr id="8" name="Text 6"/>
          <p:cNvSpPr/>
          <p:nvPr/>
        </p:nvSpPr>
        <p:spPr>
          <a:xfrm>
            <a:off x="6400800" y="2167128"/>
            <a:ext cx="5029200" cy="141732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Track how a company or sector is covered and surface the entities driving a story.</a:t>
            </a:r>
            <a:endParaRPr lang="en-US" sz="1150" dirty="0"/>
          </a:p>
        </p:txBody>
      </p:sp>
      <p:sp>
        <p:nvSpPr>
          <p:cNvPr id="9" name="Shape 7"/>
          <p:cNvSpPr/>
          <p:nvPr/>
        </p:nvSpPr>
        <p:spPr>
          <a:xfrm>
            <a:off x="548640" y="3886200"/>
            <a:ext cx="5394960" cy="2103120"/>
          </a:xfrm>
          <a:prstGeom prst="roundRect">
            <a:avLst>
              <a:gd name="adj" fmla="val 3478"/>
            </a:avLst>
          </a:prstGeom>
          <a:solidFill>
            <a:srgbClr val="EEF3FB"/>
          </a:solidFill>
          <a:ln w="9525">
            <a:solidFill>
              <a:srgbClr val="D9DEE8"/>
            </a:solidFill>
            <a:prstDash val="solid"/>
          </a:ln>
        </p:spPr>
      </p:sp>
      <p:sp>
        <p:nvSpPr>
          <p:cNvPr id="10" name="Text 8"/>
          <p:cNvSpPr/>
          <p:nvPr/>
        </p:nvSpPr>
        <p:spPr>
          <a:xfrm>
            <a:off x="731520" y="402336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Media and research teams</a:t>
            </a:r>
            <a:endParaRPr lang="en-US" sz="1450" dirty="0"/>
          </a:p>
        </p:txBody>
      </p:sp>
      <p:sp>
        <p:nvSpPr>
          <p:cNvPr id="11" name="Text 9"/>
          <p:cNvSpPr/>
          <p:nvPr/>
        </p:nvSpPr>
        <p:spPr>
          <a:xfrm>
            <a:off x="731520" y="4453128"/>
            <a:ext cx="5029200" cy="141732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Cluster a day's coverage into topics and pull the most relevant articles on demand.</a:t>
            </a:r>
            <a:endParaRPr lang="en-US" sz="1150" dirty="0"/>
          </a:p>
        </p:txBody>
      </p:sp>
      <p:sp>
        <p:nvSpPr>
          <p:cNvPr id="12" name="Shape 10"/>
          <p:cNvSpPr/>
          <p:nvPr/>
        </p:nvSpPr>
        <p:spPr>
          <a:xfrm>
            <a:off x="6217920" y="3886200"/>
            <a:ext cx="5394960" cy="2103120"/>
          </a:xfrm>
          <a:prstGeom prst="roundRect">
            <a:avLst>
              <a:gd name="adj" fmla="val 3478"/>
            </a:avLst>
          </a:prstGeom>
          <a:solidFill>
            <a:srgbClr val="F4F6FA"/>
          </a:solidFill>
          <a:ln w="9525">
            <a:solidFill>
              <a:srgbClr val="D9DEE8"/>
            </a:solidFill>
            <a:prstDash val="solid"/>
          </a:ln>
        </p:spPr>
      </p:sp>
      <p:sp>
        <p:nvSpPr>
          <p:cNvPr id="13" name="Text 11"/>
          <p:cNvSpPr/>
          <p:nvPr/>
        </p:nvSpPr>
        <p:spPr>
          <a:xfrm>
            <a:off x="6400800" y="4023360"/>
            <a:ext cx="5029200" cy="365760"/>
          </a:xfrm>
          <a:prstGeom prst="rect">
            <a:avLst/>
          </a:prstGeom>
          <a:noFill/>
          <a:ln/>
        </p:spPr>
        <p:txBody>
          <a:bodyPr wrap="square" lIns="0" tIns="0" rIns="0" bIns="0" rtlCol="0" anchor="ctr"/>
          <a:lstStyle/>
          <a:p>
            <a:pPr algn="l" indent="0" marL="0">
              <a:buNone/>
            </a:pPr>
            <a:r>
              <a:rPr lang="en-US" sz="1450" b="1" dirty="0">
                <a:solidFill>
                  <a:srgbClr val="1E2761"/>
                </a:solidFill>
                <a:latin typeface="Calibri" pitchFamily="34" charset="0"/>
                <a:ea typeface="Calibri" pitchFamily="34" charset="-122"/>
                <a:cs typeface="Calibri" pitchFamily="34" charset="-120"/>
              </a:rPr>
              <a:t>Multilingual monitoring</a:t>
            </a:r>
            <a:endParaRPr lang="en-US" sz="1450" dirty="0"/>
          </a:p>
        </p:txBody>
      </p:sp>
      <p:sp>
        <p:nvSpPr>
          <p:cNvPr id="14" name="Text 12"/>
          <p:cNvSpPr/>
          <p:nvPr/>
        </p:nvSpPr>
        <p:spPr>
          <a:xfrm>
            <a:off x="6400800" y="4453128"/>
            <a:ext cx="5029200" cy="1417320"/>
          </a:xfrm>
          <a:prstGeom prst="rect">
            <a:avLst/>
          </a:prstGeom>
          <a:noFill/>
          <a:ln/>
        </p:spPr>
        <p:txBody>
          <a:bodyPr wrap="square" lIns="0" tIns="0" rIns="0" bIns="0" rtlCol="0" anchor="t"/>
          <a:lstStyle/>
          <a:p>
            <a:pPr algn="l" indent="0" marL="0">
              <a:lnSpc>
                <a:spcPct val="105000"/>
              </a:lnSpc>
              <a:buNone/>
            </a:pPr>
            <a:r>
              <a:rPr lang="en-US" sz="1150" dirty="0">
                <a:solidFill>
                  <a:srgbClr val="22262B"/>
                </a:solidFill>
                <a:latin typeface="Calibri" pitchFamily="34" charset="0"/>
                <a:ea typeface="Calibri" pitchFamily="34" charset="-122"/>
                <a:cs typeface="Calibri" pitchFamily="34" charset="-120"/>
              </a:rPr>
              <a:t>Detect and translate non-English coverage into the same analysis pipeline.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Honest limitations</a:t>
            </a:r>
            <a:endParaRPr lang="en-US" sz="3000" dirty="0"/>
          </a:p>
        </p:txBody>
      </p:sp>
      <p:sp>
        <p:nvSpPr>
          <p:cNvPr id="3" name="Shape 1"/>
          <p:cNvSpPr/>
          <p:nvPr/>
        </p:nvSpPr>
        <p:spPr>
          <a:xfrm>
            <a:off x="640080" y="1737360"/>
            <a:ext cx="457200" cy="457200"/>
          </a:xfrm>
          <a:prstGeom prst="ellipse">
            <a:avLst/>
          </a:prstGeom>
          <a:solidFill>
            <a:srgbClr val="1E2761"/>
          </a:solidFill>
          <a:ln/>
        </p:spPr>
      </p:sp>
      <p:sp>
        <p:nvSpPr>
          <p:cNvPr id="4" name="Text 2"/>
          <p:cNvSpPr/>
          <p:nvPr/>
        </p:nvSpPr>
        <p:spPr>
          <a:xfrm>
            <a:off x="64008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5" name="Text 3"/>
          <p:cNvSpPr/>
          <p:nvPr/>
        </p:nvSpPr>
        <p:spPr>
          <a:xfrm>
            <a:off x="1325880" y="1737360"/>
            <a:ext cx="10241280" cy="640080"/>
          </a:xfrm>
          <a:prstGeom prst="rect">
            <a:avLst/>
          </a:prstGeom>
          <a:noFill/>
          <a:ln/>
        </p:spPr>
        <p:txBody>
          <a:bodyPr wrap="square" lIns="0" tIns="0" rIns="0" bIns="0" rtlCol="0" anchor="ctr"/>
          <a:lstStyle/>
          <a:p>
            <a:pPr indent="0" marL="0">
              <a:buNone/>
            </a:pPr>
            <a:r>
              <a:rPr lang="en-US" sz="1400" dirty="0">
                <a:solidFill>
                  <a:srgbClr val="22262B"/>
                </a:solidFill>
                <a:latin typeface="Calibri" pitchFamily="34" charset="0"/>
                <a:ea typeface="Calibri" pitchFamily="34" charset="-122"/>
                <a:cs typeface="Calibri" pitchFamily="34" charset="-120"/>
              </a:rPr>
              <a:t>Trained on 2004-2005 BBC news, so it is weaker on messy present-day text.</a:t>
            </a:r>
            <a:endParaRPr lang="en-US" sz="1400" dirty="0"/>
          </a:p>
        </p:txBody>
      </p:sp>
      <p:sp>
        <p:nvSpPr>
          <p:cNvPr id="6" name="Shape 4"/>
          <p:cNvSpPr/>
          <p:nvPr/>
        </p:nvSpPr>
        <p:spPr>
          <a:xfrm>
            <a:off x="640080" y="2697480"/>
            <a:ext cx="457200" cy="457200"/>
          </a:xfrm>
          <a:prstGeom prst="ellipse">
            <a:avLst/>
          </a:prstGeom>
          <a:solidFill>
            <a:srgbClr val="1E2761"/>
          </a:solidFill>
          <a:ln/>
        </p:spPr>
      </p:sp>
      <p:sp>
        <p:nvSpPr>
          <p:cNvPr id="7" name="Text 5"/>
          <p:cNvSpPr/>
          <p:nvPr/>
        </p:nvSpPr>
        <p:spPr>
          <a:xfrm>
            <a:off x="640080" y="2697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8" name="Text 6"/>
          <p:cNvSpPr/>
          <p:nvPr/>
        </p:nvSpPr>
        <p:spPr>
          <a:xfrm>
            <a:off x="1325880" y="2697480"/>
            <a:ext cx="10241280" cy="640080"/>
          </a:xfrm>
          <a:prstGeom prst="rect">
            <a:avLst/>
          </a:prstGeom>
          <a:noFill/>
          <a:ln/>
        </p:spPr>
        <p:txBody>
          <a:bodyPr wrap="square" lIns="0" tIns="0" rIns="0" bIns="0" rtlCol="0" anchor="ctr"/>
          <a:lstStyle/>
          <a:p>
            <a:pPr indent="0" marL="0">
              <a:buNone/>
            </a:pPr>
            <a:r>
              <a:rPr lang="en-US" sz="1400" dirty="0">
                <a:solidFill>
                  <a:srgbClr val="22262B"/>
                </a:solidFill>
                <a:latin typeface="Calibri" pitchFamily="34" charset="0"/>
                <a:ea typeface="Calibri" pitchFamily="34" charset="-122"/>
                <a:cs typeface="Calibri" pitchFamily="34" charset="-120"/>
              </a:rPr>
              <a:t>Lexicon sentiment misreads financial framing and can score a profit warning as positive.</a:t>
            </a:r>
            <a:endParaRPr lang="en-US" sz="1400" dirty="0"/>
          </a:p>
        </p:txBody>
      </p:sp>
      <p:sp>
        <p:nvSpPr>
          <p:cNvPr id="9" name="Shape 7"/>
          <p:cNvSpPr/>
          <p:nvPr/>
        </p:nvSpPr>
        <p:spPr>
          <a:xfrm>
            <a:off x="640080" y="3657600"/>
            <a:ext cx="457200" cy="457200"/>
          </a:xfrm>
          <a:prstGeom prst="ellipse">
            <a:avLst/>
          </a:prstGeom>
          <a:solidFill>
            <a:srgbClr val="1E2761"/>
          </a:solidFill>
          <a:ln/>
        </p:spPr>
      </p:sp>
      <p:sp>
        <p:nvSpPr>
          <p:cNvPr id="10" name="Text 8"/>
          <p:cNvSpPr/>
          <p:nvPr/>
        </p:nvSpPr>
        <p:spPr>
          <a:xfrm>
            <a:off x="64008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 name="Text 9"/>
          <p:cNvSpPr/>
          <p:nvPr/>
        </p:nvSpPr>
        <p:spPr>
          <a:xfrm>
            <a:off x="1325880" y="3657600"/>
            <a:ext cx="10241280" cy="640080"/>
          </a:xfrm>
          <a:prstGeom prst="rect">
            <a:avLst/>
          </a:prstGeom>
          <a:noFill/>
          <a:ln/>
        </p:spPr>
        <p:txBody>
          <a:bodyPr wrap="square" lIns="0" tIns="0" rIns="0" bIns="0" rtlCol="0" anchor="ctr"/>
          <a:lstStyle/>
          <a:p>
            <a:pPr indent="0" marL="0">
              <a:buNone/>
            </a:pPr>
            <a:r>
              <a:rPr lang="en-US" sz="1400" dirty="0">
                <a:solidFill>
                  <a:srgbClr val="22262B"/>
                </a:solidFill>
                <a:latin typeface="Calibri" pitchFamily="34" charset="0"/>
                <a:ea typeface="Calibri" pitchFamily="34" charset="-122"/>
                <a:cs typeface="Calibri" pitchFamily="34" charset="-120"/>
              </a:rPr>
              <a:t>The small spaCy model makes occasional NER errors on modern names.</a:t>
            </a:r>
            <a:endParaRPr lang="en-US" sz="1400" dirty="0"/>
          </a:p>
        </p:txBody>
      </p:sp>
      <p:sp>
        <p:nvSpPr>
          <p:cNvPr id="12" name="Shape 10"/>
          <p:cNvSpPr/>
          <p:nvPr/>
        </p:nvSpPr>
        <p:spPr>
          <a:xfrm>
            <a:off x="640080" y="4617720"/>
            <a:ext cx="457200" cy="457200"/>
          </a:xfrm>
          <a:prstGeom prst="ellipse">
            <a:avLst/>
          </a:prstGeom>
          <a:solidFill>
            <a:srgbClr val="1E2761"/>
          </a:solidFill>
          <a:ln/>
        </p:spPr>
      </p:sp>
      <p:sp>
        <p:nvSpPr>
          <p:cNvPr id="13" name="Text 11"/>
          <p:cNvSpPr/>
          <p:nvPr/>
        </p:nvSpPr>
        <p:spPr>
          <a:xfrm>
            <a:off x="640080" y="4617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4" name="Text 12"/>
          <p:cNvSpPr/>
          <p:nvPr/>
        </p:nvSpPr>
        <p:spPr>
          <a:xfrm>
            <a:off x="1325880" y="4617720"/>
            <a:ext cx="10241280" cy="640080"/>
          </a:xfrm>
          <a:prstGeom prst="rect">
            <a:avLst/>
          </a:prstGeom>
          <a:noFill/>
          <a:ln/>
        </p:spPr>
        <p:txBody>
          <a:bodyPr wrap="square" lIns="0" tIns="0" rIns="0" bIns="0" rtlCol="0" anchor="ctr"/>
          <a:lstStyle/>
          <a:p>
            <a:pPr indent="0" marL="0">
              <a:buNone/>
            </a:pPr>
            <a:r>
              <a:rPr lang="en-US" sz="1400" dirty="0">
                <a:solidFill>
                  <a:srgbClr val="22262B"/>
                </a:solidFill>
                <a:latin typeface="Calibri" pitchFamily="34" charset="0"/>
                <a:ea typeface="Calibri" pitchFamily="34" charset="-122"/>
                <a:cs typeface="Calibri" pitchFamily="34" charset="-120"/>
              </a:rPr>
              <a:t>Translation quality depends on a free backend and a network connection.</a:t>
            </a:r>
            <a:endParaRPr lang="en-US" sz="1400" dirty="0"/>
          </a:p>
        </p:txBody>
      </p:sp>
      <p:sp>
        <p:nvSpPr>
          <p:cNvPr id="15" name="Text 13"/>
          <p:cNvSpPr/>
          <p:nvPr/>
        </p:nvSpPr>
        <p:spPr>
          <a:xfrm>
            <a:off x="640080" y="5715000"/>
            <a:ext cx="10972800" cy="365760"/>
          </a:xfrm>
          <a:prstGeom prst="rect">
            <a:avLst/>
          </a:prstGeom>
          <a:noFill/>
          <a:ln/>
        </p:spPr>
        <p:txBody>
          <a:bodyPr wrap="square" lIns="0" tIns="0" rIns="0" bIns="0" rtlCol="0" anchor="ctr"/>
          <a:lstStyle/>
          <a:p>
            <a:pPr indent="0" marL="0">
              <a:buNone/>
            </a:pPr>
            <a:r>
              <a:rPr lang="en-US" sz="1200" i="1" dirty="0">
                <a:solidFill>
                  <a:srgbClr val="5F6B7A"/>
                </a:solidFill>
                <a:latin typeface="Calibri" pitchFamily="34" charset="0"/>
                <a:ea typeface="Calibri" pitchFamily="34" charset="-122"/>
                <a:cs typeface="Calibri" pitchFamily="34" charset="-120"/>
              </a:rPr>
              <a:t>Stating limits plainly is the point. Trustworthy tooling depends on knowing where it is wrong.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188720" y="4389120"/>
            <a:ext cx="3840480" cy="3840480"/>
          </a:xfrm>
          <a:prstGeom prst="ellipse">
            <a:avLst/>
          </a:prstGeom>
          <a:solidFill>
            <a:srgbClr val="27306E"/>
          </a:solidFill>
          <a:ln/>
        </p:spPr>
      </p:sp>
      <p:sp>
        <p:nvSpPr>
          <p:cNvPr id="3" name="Text 1"/>
          <p:cNvSpPr/>
          <p:nvPr/>
        </p:nvSpPr>
        <p:spPr>
          <a:xfrm>
            <a:off x="731520" y="64008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Future work</a:t>
            </a:r>
            <a:endParaRPr lang="en-US" sz="3000" dirty="0"/>
          </a:p>
        </p:txBody>
      </p:sp>
      <p:sp>
        <p:nvSpPr>
          <p:cNvPr id="4" name="Text 2"/>
          <p:cNvSpPr/>
          <p:nvPr/>
        </p:nvSpPr>
        <p:spPr>
          <a:xfrm>
            <a:off x="822960" y="1554480"/>
            <a:ext cx="10515600" cy="5029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  Replace lexicon sentiment with a finance-tuned model such as FinBERT</a:t>
            </a:r>
            <a:endParaRPr lang="en-US" sz="1500" dirty="0"/>
          </a:p>
        </p:txBody>
      </p:sp>
      <p:sp>
        <p:nvSpPr>
          <p:cNvPr id="5" name="Text 3"/>
          <p:cNvSpPr/>
          <p:nvPr/>
        </p:nvSpPr>
        <p:spPr>
          <a:xfrm>
            <a:off x="822960" y="2121408"/>
            <a:ext cx="10515600" cy="5029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  Fine-tune the entity recognizer on recent news</a:t>
            </a:r>
            <a:endParaRPr lang="en-US" sz="1500" dirty="0"/>
          </a:p>
        </p:txBody>
      </p:sp>
      <p:sp>
        <p:nvSpPr>
          <p:cNvPr id="6" name="Text 4"/>
          <p:cNvSpPr/>
          <p:nvPr/>
        </p:nvSpPr>
        <p:spPr>
          <a:xfrm>
            <a:off x="822960" y="2688336"/>
            <a:ext cx="10515600" cy="5029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  Add topic modeling over time to track themes</a:t>
            </a:r>
            <a:endParaRPr lang="en-US" sz="1500" dirty="0"/>
          </a:p>
        </p:txBody>
      </p:sp>
      <p:sp>
        <p:nvSpPr>
          <p:cNvPr id="7" name="Text 5"/>
          <p:cNvSpPr/>
          <p:nvPr/>
        </p:nvSpPr>
        <p:spPr>
          <a:xfrm>
            <a:off x="822960" y="3255264"/>
            <a:ext cx="10515600" cy="5029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  Deploy the web app to a public URL, add batch upload and caching</a:t>
            </a:r>
            <a:endParaRPr lang="en-US" sz="1500" dirty="0"/>
          </a:p>
        </p:txBody>
      </p:sp>
      <p:sp>
        <p:nvSpPr>
          <p:cNvPr id="8" name="Text 6"/>
          <p:cNvSpPr/>
          <p:nvPr/>
        </p:nvSpPr>
        <p:spPr>
          <a:xfrm>
            <a:off x="822960" y="3822192"/>
            <a:ext cx="10515600" cy="5029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  Explore bias detection and simple fact-checking</a:t>
            </a:r>
            <a:endParaRPr lang="en-US" sz="1500" dirty="0"/>
          </a:p>
        </p:txBody>
      </p:sp>
      <p:sp>
        <p:nvSpPr>
          <p:cNvPr id="9" name="Text 7"/>
          <p:cNvSpPr/>
          <p:nvPr/>
        </p:nvSpPr>
        <p:spPr>
          <a:xfrm>
            <a:off x="822960" y="4754880"/>
            <a:ext cx="73152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Thank you.</a:t>
            </a:r>
            <a:endParaRPr lang="en-US" sz="2600" dirty="0"/>
          </a:p>
        </p:txBody>
      </p:sp>
      <p:sp>
        <p:nvSpPr>
          <p:cNvPr id="10" name="Text 8"/>
          <p:cNvSpPr/>
          <p:nvPr/>
        </p:nvSpPr>
        <p:spPr>
          <a:xfrm>
            <a:off x="822960" y="5577840"/>
            <a:ext cx="10515600" cy="365760"/>
          </a:xfrm>
          <a:prstGeom prst="rect">
            <a:avLst/>
          </a:prstGeom>
          <a:noFill/>
          <a:ln/>
        </p:spPr>
        <p:txBody>
          <a:bodyPr wrap="square" lIns="0" tIns="0" rIns="0" bIns="0" rtlCol="0" anchor="ctr"/>
          <a:lstStyle/>
          <a:p>
            <a:pPr indent="0" marL="0">
              <a:buNone/>
            </a:pPr>
            <a:r>
              <a:rPr lang="en-US" sz="1200" dirty="0">
                <a:solidFill>
                  <a:srgbClr val="F97316"/>
                </a:solidFill>
                <a:latin typeface="Calibri" pitchFamily="34" charset="0"/>
                <a:ea typeface="Calibri" pitchFamily="34" charset="-122"/>
                <a:cs typeface="Calibri" pitchFamily="34" charset="-120"/>
              </a:rPr>
              <a:t>Trilok Kalani   |   ITAI 2373   |   github.com/Tikskalani/ITAI2373-Portfolio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2026-08-07T04:01:19Z</dcterms:created>
  <dcterms:modified xsi:type="dcterms:W3CDTF">2026-08-07T04:01:19Z</dcterms:modified>
</cp:coreProperties>
</file>