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Trilok Kalani, this is my ITAI 2373 final project, NewsBot Intelligence System 2.0, done as an individual project. The midterm was a single-notebook pipeline; the final is a modular system with four advanced modules plus a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need fast, contextual awareness of coverage. Keyword alerts miss tone and context. NewsBot returns category, sentiment, entities, summary, topics, semantic search, and a conversational interface,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change is structure. The midterm was one notebook; the final is a package where each capability is its own testable class. That refactor is what let me wire four new modules together instead of copying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text enters a thin facade that does classification, sentiment, and entities. The four modules sit on top, and the Flask app is a presentation layer over the same components. Design rule: parse and vectorize once, reuse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A. Classification reports confidence and recognized words and returns uncertain when it should. Plus sentiment with emotion, domain-aware NER, and topic modeling with both LDA and NMF.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 Extractive summaries by default with an optional transformer path. Semantic search by meaning with an optional dense backend. Content enhancement and WordNet query expansion. Light defaults, heavy options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 detects the language, translates to English, then runs the same pipeline I already trust. Non-English articles get the same treatment as English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 the piece I am most proud of. An intent classifier reads a plain question and a query processor routes it to the right component and formats the answer. It works because the refactor gave every capability a clean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web app. Three panels: analyze an article, ask a question about it, and find similar coverage. It is the same module code exposed through Flask. In the recording, demo each panel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fresh June 2026 articles, one per beat, all classified correctly with high confidence, each with sentiment and emotion. Short off-topic input returns uncertain. These come from the real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LDA topics, learned with no labels, line up cleanly with the five categories. That is a good sign the unsupervised side is finding real structure, not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97.5 percent test accuracy, Linear SVM best, all four models above 94 percent. The only real confusions are a few politics and business articles that share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onto media intelligence. Flag mentions, warn on negative tone, build a searchable entity index, and let people ask questions instead of learning a query language. Multilingual support widens the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tried to be honest. The model is trained on older news, the lexicon sentiment misreads financial language, NER makes occasional errors, and translation needs a network. Knowing the limits is what makes a tool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swap in FinBERT, fine-tune NER on recent news, add topic modeling over time, deploy to a public URL with batch upload, and explore bias detection and fact checking.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1097280"/>
            <a:ext cx="4114800" cy="4114800"/>
          </a:xfrm>
          <a:prstGeom prst="ellipse">
            <a:avLst/>
          </a:prstGeom>
          <a:solidFill>
            <a:srgbClr val="27306E"/>
          </a:solidFill>
          <a:ln/>
        </p:spPr>
      </p:sp>
      <p:sp>
        <p:nvSpPr>
          <p:cNvPr id="3" name="Shape 1"/>
          <p:cNvSpPr/>
          <p:nvPr/>
        </p:nvSpPr>
        <p:spPr>
          <a:xfrm>
            <a:off x="10607040" y="4297680"/>
            <a:ext cx="2926080" cy="2926080"/>
          </a:xfrm>
          <a:prstGeom prst="ellipse">
            <a:avLst/>
          </a:prstGeom>
          <a:solidFill>
            <a:srgbClr val="27306E"/>
          </a:solidFill>
          <a:ln/>
        </p:spPr>
      </p:sp>
      <p:sp>
        <p:nvSpPr>
          <p:cNvPr id="4" name="Text 2"/>
          <p:cNvSpPr/>
          <p:nvPr/>
        </p:nvSpPr>
        <p:spPr>
          <a:xfrm>
            <a:off x="731520" y="2286000"/>
            <a:ext cx="100584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NewsBot Intelligence System 2.0</a:t>
            </a:r>
            <a:endParaRPr lang="en-US" sz="4000" dirty="0"/>
          </a:p>
        </p:txBody>
      </p:sp>
      <p:sp>
        <p:nvSpPr>
          <p:cNvPr id="5" name="Text 3"/>
          <p:cNvSpPr/>
          <p:nvPr/>
        </p:nvSpPr>
        <p:spPr>
          <a:xfrm>
            <a:off x="749808" y="3291840"/>
            <a:ext cx="10058400" cy="5486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Advanced NLP Integration and Analysis Platform</a:t>
            </a:r>
            <a:endParaRPr lang="en-US" sz="1900" dirty="0"/>
          </a:p>
        </p:txBody>
      </p:sp>
      <p:sp>
        <p:nvSpPr>
          <p:cNvPr id="6" name="Text 4"/>
          <p:cNvSpPr/>
          <p:nvPr/>
        </p:nvSpPr>
        <p:spPr>
          <a:xfrm>
            <a:off x="749808" y="4114800"/>
            <a:ext cx="105156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Trilok Kalani   |   ITAI 2373 Natural Language Processing   |   Final Project   |   Group: SOLO</a:t>
            </a:r>
            <a:endParaRPr lang="en-US" sz="1300" dirty="0"/>
          </a:p>
        </p:txBody>
      </p:sp>
      <p:sp>
        <p:nvSpPr>
          <p:cNvPr id="7" name="Text 5"/>
          <p:cNvSpPr/>
          <p:nvPr/>
        </p:nvSpPr>
        <p:spPr>
          <a:xfrm>
            <a:off x="749808" y="4526280"/>
            <a:ext cx="10058400" cy="365760"/>
          </a:xfrm>
          <a:prstGeom prst="rect">
            <a:avLst/>
          </a:prstGeom>
          <a:noFill/>
          <a:ln/>
        </p:spPr>
        <p:txBody>
          <a:bodyPr wrap="square" lIns="0" tIns="0" rIns="0" bIns="0" rtlCol="0" anchor="ctr"/>
          <a:lstStyle/>
          <a:p>
            <a:pPr indent="0" marL="0">
              <a:buNone/>
            </a:pPr>
            <a:r>
              <a:rPr lang="en-US" sz="1200" dirty="0">
                <a:solidFill>
                  <a:srgbClr val="F97316"/>
                </a:solidFill>
                <a:latin typeface="Calibri" pitchFamily="34" charset="0"/>
                <a:ea typeface="Calibri" pitchFamily="34" charset="-122"/>
                <a:cs typeface="Calibri" pitchFamily="34" charset="-120"/>
              </a:rPr>
              <a:t>github.com/Tikskalani/ITAI2373-Portfolio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The problem, and what NewsBot does</a:t>
            </a:r>
            <a:endParaRPr lang="en-US" sz="3000" dirty="0"/>
          </a:p>
        </p:txBody>
      </p:sp>
      <p:sp>
        <p:nvSpPr>
          <p:cNvPr id="3" name="Shape 1"/>
          <p:cNvSpPr/>
          <p:nvPr/>
        </p:nvSpPr>
        <p:spPr>
          <a:xfrm>
            <a:off x="548640" y="1554480"/>
            <a:ext cx="5486400" cy="4480560"/>
          </a:xfrm>
          <a:prstGeom prst="roundRect">
            <a:avLst>
              <a:gd name="adj" fmla="val 1633"/>
            </a:avLst>
          </a:prstGeom>
          <a:solidFill>
            <a:srgbClr val="F4F6FA"/>
          </a:solidFill>
          <a:ln w="9525">
            <a:solidFill>
              <a:srgbClr val="D9DEE8"/>
            </a:solidFill>
            <a:prstDash val="solid"/>
          </a:ln>
        </p:spPr>
      </p:sp>
      <p:sp>
        <p:nvSpPr>
          <p:cNvPr id="4" name="Text 2"/>
          <p:cNvSpPr/>
          <p:nvPr/>
        </p:nvSpPr>
        <p:spPr>
          <a:xfrm>
            <a:off x="731520" y="1691640"/>
            <a:ext cx="512064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The problem</a:t>
            </a:r>
            <a:endParaRPr lang="en-US" sz="1450" dirty="0"/>
          </a:p>
        </p:txBody>
      </p:sp>
      <p:sp>
        <p:nvSpPr>
          <p:cNvPr id="5" name="Text 3"/>
          <p:cNvSpPr/>
          <p:nvPr/>
        </p:nvSpPr>
        <p:spPr>
          <a:xfrm>
            <a:off x="731520" y="2121408"/>
            <a:ext cx="5120640" cy="379476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Organizations are buried in news. Communications and analyst teams need to know within minutes what is being said about them, whether the tone is turning, and who is being named.</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Reading feeds by hand does not scale. Keyword alerts miss context: they cannot tell a positive story from a negative one, cannot group related coverage, and cannot answer a plain question.</a:t>
            </a:r>
            <a:endParaRPr lang="en-US" sz="1150" dirty="0"/>
          </a:p>
        </p:txBody>
      </p:sp>
      <p:sp>
        <p:nvSpPr>
          <p:cNvPr id="6" name="Shape 4"/>
          <p:cNvSpPr/>
          <p:nvPr/>
        </p:nvSpPr>
        <p:spPr>
          <a:xfrm>
            <a:off x="6309360" y="1554480"/>
            <a:ext cx="5303520" cy="4480560"/>
          </a:xfrm>
          <a:prstGeom prst="roundRect">
            <a:avLst>
              <a:gd name="adj" fmla="val 1633"/>
            </a:avLst>
          </a:prstGeom>
          <a:solidFill>
            <a:srgbClr val="EEF3FB"/>
          </a:solidFill>
          <a:ln w="9525">
            <a:solidFill>
              <a:srgbClr val="D9DEE8"/>
            </a:solidFill>
            <a:prstDash val="solid"/>
          </a:ln>
        </p:spPr>
      </p:sp>
      <p:sp>
        <p:nvSpPr>
          <p:cNvPr id="7" name="Text 5"/>
          <p:cNvSpPr/>
          <p:nvPr/>
        </p:nvSpPr>
        <p:spPr>
          <a:xfrm>
            <a:off x="6492240" y="1691640"/>
            <a:ext cx="493776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The solution</a:t>
            </a:r>
            <a:endParaRPr lang="en-US" sz="1450" dirty="0"/>
          </a:p>
        </p:txBody>
      </p:sp>
      <p:sp>
        <p:nvSpPr>
          <p:cNvPr id="8" name="Text 6"/>
          <p:cNvSpPr/>
          <p:nvPr/>
        </p:nvSpPr>
        <p:spPr>
          <a:xfrm>
            <a:off x="6492240" y="2121408"/>
            <a:ext cx="4937760" cy="379476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NewsBot 2.0 turns raw article text into structured intelligence:</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category with a confidence score</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sentiment and dominant emotion</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named people, organizations, and places</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a short summary</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topics across a collection, and search by meaning</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answers to plain-language questions</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All of it reachable from a web dashboard.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From midterm to final</a:t>
            </a:r>
            <a:endParaRPr lang="en-US" sz="3000" dirty="0"/>
          </a:p>
        </p:txBody>
      </p:sp>
      <p:sp>
        <p:nvSpPr>
          <p:cNvPr id="3" name="Shape 1"/>
          <p:cNvSpPr/>
          <p:nvPr/>
        </p:nvSpPr>
        <p:spPr>
          <a:xfrm>
            <a:off x="548640" y="1554480"/>
            <a:ext cx="5486400" cy="4480560"/>
          </a:xfrm>
          <a:prstGeom prst="roundRect">
            <a:avLst>
              <a:gd name="adj" fmla="val 1633"/>
            </a:avLst>
          </a:prstGeom>
          <a:solidFill>
            <a:srgbClr val="F4F6FA"/>
          </a:solidFill>
          <a:ln w="9525">
            <a:solidFill>
              <a:srgbClr val="D9DEE8"/>
            </a:solidFill>
            <a:prstDash val="solid"/>
          </a:ln>
        </p:spPr>
      </p:sp>
      <p:sp>
        <p:nvSpPr>
          <p:cNvPr id="4" name="Text 2"/>
          <p:cNvSpPr/>
          <p:nvPr/>
        </p:nvSpPr>
        <p:spPr>
          <a:xfrm>
            <a:off x="731520" y="1691640"/>
            <a:ext cx="512064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Midterm</a:t>
            </a:r>
            <a:endParaRPr lang="en-US" sz="1450" dirty="0"/>
          </a:p>
        </p:txBody>
      </p:sp>
      <p:sp>
        <p:nvSpPr>
          <p:cNvPr id="5" name="Text 3"/>
          <p:cNvSpPr/>
          <p:nvPr/>
        </p:nvSpPr>
        <p:spPr>
          <a:xfrm>
            <a:off x="731520" y="2121408"/>
            <a:ext cx="5120640" cy="379476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One long Jupyter notebook.</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preprocessing to TF-IDF to classification</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sentiment, NER, LDA topics</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97.5% test accuracy on BBC News</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a Gradio demo</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Worked well, but hard to reuse or extend.</a:t>
            </a:r>
            <a:endParaRPr lang="en-US" sz="1150" dirty="0"/>
          </a:p>
        </p:txBody>
      </p:sp>
      <p:sp>
        <p:nvSpPr>
          <p:cNvPr id="6" name="Shape 4"/>
          <p:cNvSpPr/>
          <p:nvPr/>
        </p:nvSpPr>
        <p:spPr>
          <a:xfrm>
            <a:off x="6309360" y="1554480"/>
            <a:ext cx="5303520" cy="4480560"/>
          </a:xfrm>
          <a:prstGeom prst="roundRect">
            <a:avLst>
              <a:gd name="adj" fmla="val 1633"/>
            </a:avLst>
          </a:prstGeom>
          <a:solidFill>
            <a:srgbClr val="FDECDD"/>
          </a:solidFill>
          <a:ln w="9525">
            <a:solidFill>
              <a:srgbClr val="D9DEE8"/>
            </a:solidFill>
            <a:prstDash val="solid"/>
          </a:ln>
        </p:spPr>
      </p:sp>
      <p:sp>
        <p:nvSpPr>
          <p:cNvPr id="7" name="Text 5"/>
          <p:cNvSpPr/>
          <p:nvPr/>
        </p:nvSpPr>
        <p:spPr>
          <a:xfrm>
            <a:off x="6492240" y="1691640"/>
            <a:ext cx="493776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Final</a:t>
            </a:r>
            <a:endParaRPr lang="en-US" sz="1450" dirty="0"/>
          </a:p>
        </p:txBody>
      </p:sp>
      <p:sp>
        <p:nvSpPr>
          <p:cNvPr id="8" name="Text 6"/>
          <p:cNvSpPr/>
          <p:nvPr/>
        </p:nvSpPr>
        <p:spPr>
          <a:xfrm>
            <a:off x="6492240" y="2121408"/>
            <a:ext cx="4937760" cy="379476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A production-style Python package.</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every capability a small class under src/</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four new modules: content analysis, language, multilingual, conversational</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a Flask web app (bonus)</a:t>
            </a: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  an automated pytest suite</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The refactor is what made the new modules possible.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566928" y="987552"/>
            <a:ext cx="10972800" cy="365760"/>
          </a:xfrm>
          <a:prstGeom prst="rect">
            <a:avLst/>
          </a:prstGeom>
          <a:noFill/>
          <a:ln/>
        </p:spPr>
        <p:txBody>
          <a:bodyPr wrap="square" lIns="0" tIns="0" rIns="0" bIns="0" rtlCol="0" anchor="ctr"/>
          <a:lstStyle/>
          <a:p>
            <a:pPr algn="l" indent="0" marL="0">
              <a:buNone/>
            </a:pPr>
            <a:r>
              <a:rPr lang="en-US" sz="1500" dirty="0">
                <a:solidFill>
                  <a:srgbClr val="F97316"/>
                </a:solidFill>
                <a:latin typeface="Calibri" pitchFamily="34" charset="0"/>
                <a:ea typeface="Calibri" pitchFamily="34" charset="-122"/>
                <a:cs typeface="Calibri" pitchFamily="34" charset="-120"/>
              </a:rPr>
              <a:t>Parse and vectorize once, then reuse</a:t>
            </a:r>
            <a:endParaRPr lang="en-US" sz="1500" dirty="0"/>
          </a:p>
        </p:txBody>
      </p:sp>
      <p:sp>
        <p:nvSpPr>
          <p:cNvPr id="4" name="Shape 2"/>
          <p:cNvSpPr/>
          <p:nvPr/>
        </p:nvSpPr>
        <p:spPr>
          <a:xfrm>
            <a:off x="4480560" y="1508760"/>
            <a:ext cx="3200400" cy="640080"/>
          </a:xfrm>
          <a:prstGeom prst="roundRect">
            <a:avLst>
              <a:gd name="adj" fmla="val 8571"/>
            </a:avLst>
          </a:prstGeom>
          <a:solidFill>
            <a:srgbClr val="EEF3FB"/>
          </a:solidFill>
          <a:ln w="9525">
            <a:solidFill>
              <a:srgbClr val="C3CCD9"/>
            </a:solidFill>
            <a:prstDash val="solid"/>
          </a:ln>
        </p:spPr>
      </p:sp>
      <p:sp>
        <p:nvSpPr>
          <p:cNvPr id="5" name="Text 3"/>
          <p:cNvSpPr/>
          <p:nvPr/>
        </p:nvSpPr>
        <p:spPr>
          <a:xfrm>
            <a:off x="4572000" y="1508760"/>
            <a:ext cx="3017520" cy="6400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Input
</a:t>
            </a:r>
            <a:pPr algn="ctr" indent="0" marL="0">
              <a:buNone/>
            </a:pPr>
            <a:r>
              <a:rPr lang="en-US" sz="950" dirty="0">
                <a:solidFill>
                  <a:srgbClr val="5F6B7A"/>
                </a:solidFill>
                <a:latin typeface="Calibri" pitchFamily="34" charset="0"/>
                <a:ea typeface="Calibri" pitchFamily="34" charset="-122"/>
                <a:cs typeface="Calibri" pitchFamily="34" charset="-120"/>
              </a:rPr>
              <a:t>raw article text</a:t>
            </a:r>
            <a:endParaRPr lang="en-US" sz="1250" dirty="0"/>
          </a:p>
        </p:txBody>
      </p:sp>
      <p:sp>
        <p:nvSpPr>
          <p:cNvPr id="6" name="Shape 4"/>
          <p:cNvSpPr/>
          <p:nvPr/>
        </p:nvSpPr>
        <p:spPr>
          <a:xfrm>
            <a:off x="4206240" y="2331720"/>
            <a:ext cx="3749040" cy="731520"/>
          </a:xfrm>
          <a:prstGeom prst="roundRect">
            <a:avLst>
              <a:gd name="adj" fmla="val 7500"/>
            </a:avLst>
          </a:prstGeom>
          <a:solidFill>
            <a:srgbClr val="1E2761"/>
          </a:solidFill>
          <a:ln w="9525">
            <a:solidFill>
              <a:srgbClr val="C3CCD9"/>
            </a:solidFill>
            <a:prstDash val="solid"/>
          </a:ln>
        </p:spPr>
      </p:sp>
      <p:sp>
        <p:nvSpPr>
          <p:cNvPr id="7" name="Text 5"/>
          <p:cNvSpPr/>
          <p:nvPr/>
        </p:nvSpPr>
        <p:spPr>
          <a:xfrm>
            <a:off x="4297680" y="2331720"/>
            <a:ext cx="356616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NewsBot facade
</a:t>
            </a:r>
            <a:pPr algn="ctr" indent="0" marL="0">
              <a:buNone/>
            </a:pPr>
            <a:r>
              <a:rPr lang="en-US" sz="950" dirty="0">
                <a:solidFill>
                  <a:srgbClr val="CADCFC"/>
                </a:solidFill>
                <a:latin typeface="Calibri" pitchFamily="34" charset="0"/>
                <a:ea typeface="Calibri" pitchFamily="34" charset="-122"/>
                <a:cs typeface="Calibri" pitchFamily="34" charset="-120"/>
              </a:rPr>
              <a:t>classify + sentiment + entities</a:t>
            </a:r>
            <a:endParaRPr lang="en-US" sz="1250" dirty="0"/>
          </a:p>
        </p:txBody>
      </p:sp>
      <p:sp>
        <p:nvSpPr>
          <p:cNvPr id="8" name="Shape 6"/>
          <p:cNvSpPr/>
          <p:nvPr/>
        </p:nvSpPr>
        <p:spPr>
          <a:xfrm>
            <a:off x="548640" y="3337560"/>
            <a:ext cx="2651760" cy="914400"/>
          </a:xfrm>
          <a:prstGeom prst="roundRect">
            <a:avLst>
              <a:gd name="adj" fmla="val 6000"/>
            </a:avLst>
          </a:prstGeom>
          <a:solidFill>
            <a:srgbClr val="F4F6FA"/>
          </a:solidFill>
          <a:ln w="9525">
            <a:solidFill>
              <a:srgbClr val="C3CCD9"/>
            </a:solidFill>
            <a:prstDash val="solid"/>
          </a:ln>
        </p:spPr>
      </p:sp>
      <p:sp>
        <p:nvSpPr>
          <p:cNvPr id="9" name="Text 7"/>
          <p:cNvSpPr/>
          <p:nvPr/>
        </p:nvSpPr>
        <p:spPr>
          <a:xfrm>
            <a:off x="640080" y="3337560"/>
            <a:ext cx="2468880"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Module A
</a:t>
            </a:r>
            <a:pPr algn="ctr" indent="0" marL="0">
              <a:buNone/>
            </a:pPr>
            <a:r>
              <a:rPr lang="en-US" sz="950" dirty="0">
                <a:solidFill>
                  <a:srgbClr val="5F6B7A"/>
                </a:solidFill>
                <a:latin typeface="Calibri" pitchFamily="34" charset="0"/>
                <a:ea typeface="Calibri" pitchFamily="34" charset="-122"/>
                <a:cs typeface="Calibri" pitchFamily="34" charset="-120"/>
              </a:rPr>
              <a:t>Content analysis: classifier, sentiment, NER, topics</a:t>
            </a:r>
            <a:endParaRPr lang="en-US" sz="1250" dirty="0"/>
          </a:p>
        </p:txBody>
      </p:sp>
      <p:sp>
        <p:nvSpPr>
          <p:cNvPr id="10" name="Shape 8"/>
          <p:cNvSpPr/>
          <p:nvPr/>
        </p:nvSpPr>
        <p:spPr>
          <a:xfrm>
            <a:off x="3383280" y="3337560"/>
            <a:ext cx="2651760" cy="914400"/>
          </a:xfrm>
          <a:prstGeom prst="roundRect">
            <a:avLst>
              <a:gd name="adj" fmla="val 6000"/>
            </a:avLst>
          </a:prstGeom>
          <a:solidFill>
            <a:srgbClr val="F4F6FA"/>
          </a:solidFill>
          <a:ln w="9525">
            <a:solidFill>
              <a:srgbClr val="C3CCD9"/>
            </a:solidFill>
            <a:prstDash val="solid"/>
          </a:ln>
        </p:spPr>
      </p:sp>
      <p:sp>
        <p:nvSpPr>
          <p:cNvPr id="11" name="Text 9"/>
          <p:cNvSpPr/>
          <p:nvPr/>
        </p:nvSpPr>
        <p:spPr>
          <a:xfrm>
            <a:off x="3474720" y="3337560"/>
            <a:ext cx="2468880"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Module B
</a:t>
            </a:r>
            <a:pPr algn="ctr" indent="0" marL="0">
              <a:buNone/>
            </a:pPr>
            <a:r>
              <a:rPr lang="en-US" sz="950" dirty="0">
                <a:solidFill>
                  <a:srgbClr val="5F6B7A"/>
                </a:solidFill>
                <a:latin typeface="Calibri" pitchFamily="34" charset="0"/>
                <a:ea typeface="Calibri" pitchFamily="34" charset="-122"/>
                <a:cs typeface="Calibri" pitchFamily="34" charset="-120"/>
              </a:rPr>
              <a:t>Language: summarizer, semantic search, generation</a:t>
            </a:r>
            <a:endParaRPr lang="en-US" sz="1250" dirty="0"/>
          </a:p>
        </p:txBody>
      </p:sp>
      <p:sp>
        <p:nvSpPr>
          <p:cNvPr id="12" name="Shape 10"/>
          <p:cNvSpPr/>
          <p:nvPr/>
        </p:nvSpPr>
        <p:spPr>
          <a:xfrm>
            <a:off x="6217920" y="3337560"/>
            <a:ext cx="2651760" cy="914400"/>
          </a:xfrm>
          <a:prstGeom prst="roundRect">
            <a:avLst>
              <a:gd name="adj" fmla="val 6000"/>
            </a:avLst>
          </a:prstGeom>
          <a:solidFill>
            <a:srgbClr val="F4F6FA"/>
          </a:solidFill>
          <a:ln w="9525">
            <a:solidFill>
              <a:srgbClr val="C3CCD9"/>
            </a:solidFill>
            <a:prstDash val="solid"/>
          </a:ln>
        </p:spPr>
      </p:sp>
      <p:sp>
        <p:nvSpPr>
          <p:cNvPr id="13" name="Text 11"/>
          <p:cNvSpPr/>
          <p:nvPr/>
        </p:nvSpPr>
        <p:spPr>
          <a:xfrm>
            <a:off x="6309360" y="3337560"/>
            <a:ext cx="2468880"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Module C
</a:t>
            </a:r>
            <a:pPr algn="ctr" indent="0" marL="0">
              <a:buNone/>
            </a:pPr>
            <a:r>
              <a:rPr lang="en-US" sz="950" dirty="0">
                <a:solidFill>
                  <a:srgbClr val="5F6B7A"/>
                </a:solidFill>
                <a:latin typeface="Calibri" pitchFamily="34" charset="0"/>
                <a:ea typeface="Calibri" pitchFamily="34" charset="-122"/>
                <a:cs typeface="Calibri" pitchFamily="34" charset="-120"/>
              </a:rPr>
              <a:t>Multilingual: detect, translate, cross-lingual</a:t>
            </a:r>
            <a:endParaRPr lang="en-US" sz="1250" dirty="0"/>
          </a:p>
        </p:txBody>
      </p:sp>
      <p:sp>
        <p:nvSpPr>
          <p:cNvPr id="14" name="Shape 12"/>
          <p:cNvSpPr/>
          <p:nvPr/>
        </p:nvSpPr>
        <p:spPr>
          <a:xfrm>
            <a:off x="9052560" y="3337560"/>
            <a:ext cx="2560320" cy="914400"/>
          </a:xfrm>
          <a:prstGeom prst="roundRect">
            <a:avLst>
              <a:gd name="adj" fmla="val 6000"/>
            </a:avLst>
          </a:prstGeom>
          <a:solidFill>
            <a:srgbClr val="F4F6FA"/>
          </a:solidFill>
          <a:ln w="9525">
            <a:solidFill>
              <a:srgbClr val="C3CCD9"/>
            </a:solidFill>
            <a:prstDash val="solid"/>
          </a:ln>
        </p:spPr>
      </p:sp>
      <p:sp>
        <p:nvSpPr>
          <p:cNvPr id="15" name="Text 13"/>
          <p:cNvSpPr/>
          <p:nvPr/>
        </p:nvSpPr>
        <p:spPr>
          <a:xfrm>
            <a:off x="9144000" y="3337560"/>
            <a:ext cx="2377440"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Module D
</a:t>
            </a:r>
            <a:pPr algn="ctr" indent="0" marL="0">
              <a:buNone/>
            </a:pPr>
            <a:r>
              <a:rPr lang="en-US" sz="950" dirty="0">
                <a:solidFill>
                  <a:srgbClr val="5F6B7A"/>
                </a:solidFill>
                <a:latin typeface="Calibri" pitchFamily="34" charset="0"/>
                <a:ea typeface="Calibri" pitchFamily="34" charset="-122"/>
                <a:cs typeface="Calibri" pitchFamily="34" charset="-120"/>
              </a:rPr>
              <a:t>Conversational: intent, routing, response</a:t>
            </a:r>
            <a:endParaRPr lang="en-US" sz="1250" dirty="0"/>
          </a:p>
        </p:txBody>
      </p:sp>
      <p:sp>
        <p:nvSpPr>
          <p:cNvPr id="16" name="Shape 14"/>
          <p:cNvSpPr/>
          <p:nvPr/>
        </p:nvSpPr>
        <p:spPr>
          <a:xfrm>
            <a:off x="3931920" y="4526280"/>
            <a:ext cx="4297680" cy="777240"/>
          </a:xfrm>
          <a:prstGeom prst="roundRect">
            <a:avLst>
              <a:gd name="adj" fmla="val 7059"/>
            </a:avLst>
          </a:prstGeom>
          <a:solidFill>
            <a:srgbClr val="FDECDD"/>
          </a:solidFill>
          <a:ln w="9525">
            <a:solidFill>
              <a:srgbClr val="C3CCD9"/>
            </a:solidFill>
            <a:prstDash val="solid"/>
          </a:ln>
        </p:spPr>
      </p:sp>
      <p:sp>
        <p:nvSpPr>
          <p:cNvPr id="17" name="Text 15"/>
          <p:cNvSpPr/>
          <p:nvPr/>
        </p:nvSpPr>
        <p:spPr>
          <a:xfrm>
            <a:off x="4023360" y="4526280"/>
            <a:ext cx="4114800" cy="7772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Flask web app
</a:t>
            </a:r>
            <a:pPr algn="ctr" indent="0" marL="0">
              <a:buNone/>
            </a:pPr>
            <a:r>
              <a:rPr lang="en-US" sz="950" dirty="0">
                <a:solidFill>
                  <a:srgbClr val="5F6B7A"/>
                </a:solidFill>
                <a:latin typeface="Calibri" pitchFamily="34" charset="0"/>
                <a:ea typeface="Calibri" pitchFamily="34" charset="-122"/>
                <a:cs typeface="Calibri" pitchFamily="34" charset="-120"/>
              </a:rPr>
              <a:t>/  /analyze  /query  /similar  /topics</a:t>
            </a:r>
            <a:endParaRPr lang="en-US" sz="1250" dirty="0"/>
          </a:p>
        </p:txBody>
      </p:sp>
      <p:sp>
        <p:nvSpPr>
          <p:cNvPr id="18" name="Text 16"/>
          <p:cNvSpPr/>
          <p:nvPr/>
        </p:nvSpPr>
        <p:spPr>
          <a:xfrm>
            <a:off x="548640" y="5532120"/>
            <a:ext cx="10972800" cy="365760"/>
          </a:xfrm>
          <a:prstGeom prst="rect">
            <a:avLst/>
          </a:prstGeom>
          <a:noFill/>
          <a:ln/>
        </p:spPr>
        <p:txBody>
          <a:bodyPr wrap="square" lIns="0" tIns="0" rIns="0" bIns="0" rtlCol="0" anchor="ctr"/>
          <a:lstStyle/>
          <a:p>
            <a:pPr indent="0" marL="0">
              <a:buNone/>
            </a:pPr>
            <a:r>
              <a:rPr lang="en-US" sz="1100" i="1" dirty="0">
                <a:solidFill>
                  <a:srgbClr val="5F6B7A"/>
                </a:solidFill>
                <a:latin typeface="Calibri" pitchFamily="34" charset="0"/>
                <a:ea typeface="Calibri" pitchFamily="34" charset="-122"/>
                <a:cs typeface="Calibri" pitchFamily="34" charset="-120"/>
              </a:rPr>
              <a:t>The classifier owns the TF-IDF vectorizer; search and topic modeling keep their own, tuned for recall.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Module A — Advanced content analysis</a:t>
            </a:r>
            <a:endParaRPr lang="en-US" sz="3000" dirty="0"/>
          </a:p>
        </p:txBody>
      </p:sp>
      <p:sp>
        <p:nvSpPr>
          <p:cNvPr id="3" name="Shape 1"/>
          <p:cNvSpPr/>
          <p:nvPr/>
        </p:nvSpPr>
        <p:spPr>
          <a:xfrm>
            <a:off x="548640" y="1554480"/>
            <a:ext cx="5394960" cy="2148840"/>
          </a:xfrm>
          <a:prstGeom prst="roundRect">
            <a:avLst>
              <a:gd name="adj" fmla="val 3404"/>
            </a:avLst>
          </a:prstGeom>
          <a:solidFill>
            <a:srgbClr val="F4F6FA"/>
          </a:solidFill>
          <a:ln w="9525">
            <a:solidFill>
              <a:srgbClr val="D9DEE8"/>
            </a:solidFill>
            <a:prstDash val="solid"/>
          </a:ln>
        </p:spPr>
      </p:sp>
      <p:sp>
        <p:nvSpPr>
          <p:cNvPr id="4" name="Text 2"/>
          <p:cNvSpPr/>
          <p:nvPr/>
        </p:nvSpPr>
        <p:spPr>
          <a:xfrm>
            <a:off x="731520" y="1691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Classification with an uncertainty guard</a:t>
            </a:r>
            <a:endParaRPr lang="en-US" sz="1450" dirty="0"/>
          </a:p>
        </p:txBody>
      </p:sp>
      <p:sp>
        <p:nvSpPr>
          <p:cNvPr id="5" name="Text 3"/>
          <p:cNvSpPr/>
          <p:nvPr/>
        </p:nvSpPr>
        <p:spPr>
          <a:xfrm>
            <a:off x="731520" y="2121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Category, confidence, runner-up, and how many words were recognized. Returns 'uncertain' on empty or out-of-scope text instead of guessing. Fixes the midterm bug where short input was labeled sport.</a:t>
            </a:r>
            <a:endParaRPr lang="en-US" sz="1150" dirty="0"/>
          </a:p>
        </p:txBody>
      </p:sp>
      <p:sp>
        <p:nvSpPr>
          <p:cNvPr id="6" name="Shape 4"/>
          <p:cNvSpPr/>
          <p:nvPr/>
        </p:nvSpPr>
        <p:spPr>
          <a:xfrm>
            <a:off x="6217920" y="1554480"/>
            <a:ext cx="5394960" cy="2148840"/>
          </a:xfrm>
          <a:prstGeom prst="roundRect">
            <a:avLst>
              <a:gd name="adj" fmla="val 3404"/>
            </a:avLst>
          </a:prstGeom>
          <a:solidFill>
            <a:srgbClr val="EEF3FB"/>
          </a:solidFill>
          <a:ln w="9525">
            <a:solidFill>
              <a:srgbClr val="D9DEE8"/>
            </a:solidFill>
            <a:prstDash val="solid"/>
          </a:ln>
        </p:spPr>
      </p:sp>
      <p:sp>
        <p:nvSpPr>
          <p:cNvPr id="7" name="Text 5"/>
          <p:cNvSpPr/>
          <p:nvPr/>
        </p:nvSpPr>
        <p:spPr>
          <a:xfrm>
            <a:off x="6400800" y="1691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Sentiment and emotion</a:t>
            </a:r>
            <a:endParaRPr lang="en-US" sz="1450" dirty="0"/>
          </a:p>
        </p:txBody>
      </p:sp>
      <p:sp>
        <p:nvSpPr>
          <p:cNvPr id="8" name="Text 6"/>
          <p:cNvSpPr/>
          <p:nvPr/>
        </p:nvSpPr>
        <p:spPr>
          <a:xfrm>
            <a:off x="6400800" y="2121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VADER compound plus TextBlob polarity and subjectivity, and a transparent 8-emotion lexicon (joy, anger, fear, sadness, and more).</a:t>
            </a:r>
            <a:endParaRPr lang="en-US" sz="1150" dirty="0"/>
          </a:p>
        </p:txBody>
      </p:sp>
      <p:sp>
        <p:nvSpPr>
          <p:cNvPr id="9" name="Shape 7"/>
          <p:cNvSpPr/>
          <p:nvPr/>
        </p:nvSpPr>
        <p:spPr>
          <a:xfrm>
            <a:off x="548640" y="3840480"/>
            <a:ext cx="5394960" cy="2148840"/>
          </a:xfrm>
          <a:prstGeom prst="roundRect">
            <a:avLst>
              <a:gd name="adj" fmla="val 3404"/>
            </a:avLst>
          </a:prstGeom>
          <a:solidFill>
            <a:srgbClr val="EEF3FB"/>
          </a:solidFill>
          <a:ln w="9525">
            <a:solidFill>
              <a:srgbClr val="D9DEE8"/>
            </a:solidFill>
            <a:prstDash val="solid"/>
          </a:ln>
        </p:spPr>
      </p:sp>
      <p:sp>
        <p:nvSpPr>
          <p:cNvPr id="10" name="Text 8"/>
          <p:cNvSpPr/>
          <p:nvPr/>
        </p:nvSpPr>
        <p:spPr>
          <a:xfrm>
            <a:off x="731520" y="3977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Named entity recognition</a:t>
            </a:r>
            <a:endParaRPr lang="en-US" sz="1450" dirty="0"/>
          </a:p>
        </p:txBody>
      </p:sp>
      <p:sp>
        <p:nvSpPr>
          <p:cNvPr id="11" name="Text 9"/>
          <p:cNvSpPr/>
          <p:nvPr/>
        </p:nvSpPr>
        <p:spPr>
          <a:xfrm>
            <a:off x="731520" y="4407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spaCy entities with an optional domain rule layer that corrects names like Nvidia, OpenAI, and Manchester United.</a:t>
            </a:r>
            <a:endParaRPr lang="en-US" sz="1150" dirty="0"/>
          </a:p>
        </p:txBody>
      </p:sp>
      <p:sp>
        <p:nvSpPr>
          <p:cNvPr id="12" name="Shape 10"/>
          <p:cNvSpPr/>
          <p:nvPr/>
        </p:nvSpPr>
        <p:spPr>
          <a:xfrm>
            <a:off x="6217920" y="3840480"/>
            <a:ext cx="5394960" cy="2148840"/>
          </a:xfrm>
          <a:prstGeom prst="roundRect">
            <a:avLst>
              <a:gd name="adj" fmla="val 3404"/>
            </a:avLst>
          </a:prstGeom>
          <a:solidFill>
            <a:srgbClr val="F4F6FA"/>
          </a:solidFill>
          <a:ln w="9525">
            <a:solidFill>
              <a:srgbClr val="D9DEE8"/>
            </a:solidFill>
            <a:prstDash val="solid"/>
          </a:ln>
        </p:spPr>
      </p:sp>
      <p:sp>
        <p:nvSpPr>
          <p:cNvPr id="13" name="Text 11"/>
          <p:cNvSpPr/>
          <p:nvPr/>
        </p:nvSpPr>
        <p:spPr>
          <a:xfrm>
            <a:off x="6400800" y="3977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Topic modeling: LDA and NMF</a:t>
            </a:r>
            <a:endParaRPr lang="en-US" sz="1450" dirty="0"/>
          </a:p>
        </p:txBody>
      </p:sp>
      <p:sp>
        <p:nvSpPr>
          <p:cNvPr id="14" name="Text 12"/>
          <p:cNvSpPr/>
          <p:nvPr/>
        </p:nvSpPr>
        <p:spPr>
          <a:xfrm>
            <a:off x="6400800" y="4407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Unsupervised topics over the corpus, with per-topic top words and a visualization. The topics rediscover the five categories with no labels.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Module B — Language understanding and generation</a:t>
            </a:r>
            <a:endParaRPr lang="en-US" sz="3000" dirty="0"/>
          </a:p>
        </p:txBody>
      </p:sp>
      <p:sp>
        <p:nvSpPr>
          <p:cNvPr id="3" name="Shape 1"/>
          <p:cNvSpPr/>
          <p:nvPr/>
        </p:nvSpPr>
        <p:spPr>
          <a:xfrm>
            <a:off x="548640" y="1554480"/>
            <a:ext cx="5394960" cy="2148840"/>
          </a:xfrm>
          <a:prstGeom prst="roundRect">
            <a:avLst>
              <a:gd name="adj" fmla="val 3404"/>
            </a:avLst>
          </a:prstGeom>
          <a:solidFill>
            <a:srgbClr val="F4F6FA"/>
          </a:solidFill>
          <a:ln w="9525">
            <a:solidFill>
              <a:srgbClr val="D9DEE8"/>
            </a:solidFill>
            <a:prstDash val="solid"/>
          </a:ln>
        </p:spPr>
      </p:sp>
      <p:sp>
        <p:nvSpPr>
          <p:cNvPr id="4" name="Text 2"/>
          <p:cNvSpPr/>
          <p:nvPr/>
        </p:nvSpPr>
        <p:spPr>
          <a:xfrm>
            <a:off x="731520" y="1691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Summarization</a:t>
            </a:r>
            <a:endParaRPr lang="en-US" sz="1450" dirty="0"/>
          </a:p>
        </p:txBody>
      </p:sp>
      <p:sp>
        <p:nvSpPr>
          <p:cNvPr id="5" name="Text 3"/>
          <p:cNvSpPr/>
          <p:nvPr/>
        </p:nvSpPr>
        <p:spPr>
          <a:xfrm>
            <a:off x="731520" y="2121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Extractive by default: sentences ranked by TF-IDF salience, top ones returned in order. An abstractive DistilBART path lazy-loads only on request.</a:t>
            </a:r>
            <a:endParaRPr lang="en-US" sz="1150" dirty="0"/>
          </a:p>
        </p:txBody>
      </p:sp>
      <p:sp>
        <p:nvSpPr>
          <p:cNvPr id="6" name="Shape 4"/>
          <p:cNvSpPr/>
          <p:nvPr/>
        </p:nvSpPr>
        <p:spPr>
          <a:xfrm>
            <a:off x="6217920" y="1554480"/>
            <a:ext cx="5394960" cy="2148840"/>
          </a:xfrm>
          <a:prstGeom prst="roundRect">
            <a:avLst>
              <a:gd name="adj" fmla="val 3404"/>
            </a:avLst>
          </a:prstGeom>
          <a:solidFill>
            <a:srgbClr val="EEF3FB"/>
          </a:solidFill>
          <a:ln w="9525">
            <a:solidFill>
              <a:srgbClr val="D9DEE8"/>
            </a:solidFill>
            <a:prstDash val="solid"/>
          </a:ln>
        </p:spPr>
      </p:sp>
      <p:sp>
        <p:nvSpPr>
          <p:cNvPr id="7" name="Text 5"/>
          <p:cNvSpPr/>
          <p:nvPr/>
        </p:nvSpPr>
        <p:spPr>
          <a:xfrm>
            <a:off x="6400800" y="1691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Semantic search</a:t>
            </a:r>
            <a:endParaRPr lang="en-US" sz="1450" dirty="0"/>
          </a:p>
        </p:txBody>
      </p:sp>
      <p:sp>
        <p:nvSpPr>
          <p:cNvPr id="8" name="Text 6"/>
          <p:cNvSpPr/>
          <p:nvPr/>
        </p:nvSpPr>
        <p:spPr>
          <a:xfrm>
            <a:off x="6400800" y="2121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Ranks the corpus by cosine similarity to a query, so you search by meaning, not keywords. Optional dense SBERT backend.</a:t>
            </a:r>
            <a:endParaRPr lang="en-US" sz="1150" dirty="0"/>
          </a:p>
        </p:txBody>
      </p:sp>
      <p:sp>
        <p:nvSpPr>
          <p:cNvPr id="9" name="Shape 7"/>
          <p:cNvSpPr/>
          <p:nvPr/>
        </p:nvSpPr>
        <p:spPr>
          <a:xfrm>
            <a:off x="548640" y="3840480"/>
            <a:ext cx="5394960" cy="2148840"/>
          </a:xfrm>
          <a:prstGeom prst="roundRect">
            <a:avLst>
              <a:gd name="adj" fmla="val 3404"/>
            </a:avLst>
          </a:prstGeom>
          <a:solidFill>
            <a:srgbClr val="EEF3FB"/>
          </a:solidFill>
          <a:ln w="9525">
            <a:solidFill>
              <a:srgbClr val="D9DEE8"/>
            </a:solidFill>
            <a:prstDash val="solid"/>
          </a:ln>
        </p:spPr>
      </p:sp>
      <p:sp>
        <p:nvSpPr>
          <p:cNvPr id="10" name="Text 8"/>
          <p:cNvSpPr/>
          <p:nvPr/>
        </p:nvSpPr>
        <p:spPr>
          <a:xfrm>
            <a:off x="731520" y="3977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Content enhancement</a:t>
            </a:r>
            <a:endParaRPr lang="en-US" sz="1450" dirty="0"/>
          </a:p>
        </p:txBody>
      </p:sp>
      <p:sp>
        <p:nvSpPr>
          <p:cNvPr id="11" name="Text 9"/>
          <p:cNvSpPr/>
          <p:nvPr/>
        </p:nvSpPr>
        <p:spPr>
          <a:xfrm>
            <a:off x="731520" y="4407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Turns an analysis result into a readable narrative brief for a non-technical reader.</a:t>
            </a:r>
            <a:endParaRPr lang="en-US" sz="1150" dirty="0"/>
          </a:p>
        </p:txBody>
      </p:sp>
      <p:sp>
        <p:nvSpPr>
          <p:cNvPr id="12" name="Shape 10"/>
          <p:cNvSpPr/>
          <p:nvPr/>
        </p:nvSpPr>
        <p:spPr>
          <a:xfrm>
            <a:off x="6217920" y="3840480"/>
            <a:ext cx="5394960" cy="2148840"/>
          </a:xfrm>
          <a:prstGeom prst="roundRect">
            <a:avLst>
              <a:gd name="adj" fmla="val 3404"/>
            </a:avLst>
          </a:prstGeom>
          <a:solidFill>
            <a:srgbClr val="F4F6FA"/>
          </a:solidFill>
          <a:ln w="9525">
            <a:solidFill>
              <a:srgbClr val="D9DEE8"/>
            </a:solidFill>
            <a:prstDash val="solid"/>
          </a:ln>
        </p:spPr>
      </p:sp>
      <p:sp>
        <p:nvSpPr>
          <p:cNvPr id="13" name="Text 11"/>
          <p:cNvSpPr/>
          <p:nvPr/>
        </p:nvSpPr>
        <p:spPr>
          <a:xfrm>
            <a:off x="6400800" y="397764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Query expansion</a:t>
            </a:r>
            <a:endParaRPr lang="en-US" sz="1450" dirty="0"/>
          </a:p>
        </p:txBody>
      </p:sp>
      <p:sp>
        <p:nvSpPr>
          <p:cNvPr id="14" name="Text 12"/>
          <p:cNvSpPr/>
          <p:nvPr/>
        </p:nvSpPr>
        <p:spPr>
          <a:xfrm>
            <a:off x="6400800" y="4407408"/>
            <a:ext cx="5029200" cy="14630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Adds WordNet synonyms to widen a search and catch related coverage.</a:t>
            </a:r>
            <a:endParaRPr lang="en-US" sz="1150" dirty="0"/>
          </a:p>
        </p:txBody>
      </p:sp>
      <p:sp>
        <p:nvSpPr>
          <p:cNvPr id="15" name="Text 13"/>
          <p:cNvSpPr/>
          <p:nvPr/>
        </p:nvSpPr>
        <p:spPr>
          <a:xfrm>
            <a:off x="548640" y="6172200"/>
            <a:ext cx="10972800" cy="365760"/>
          </a:xfrm>
          <a:prstGeom prst="rect">
            <a:avLst/>
          </a:prstGeom>
          <a:noFill/>
          <a:ln/>
        </p:spPr>
        <p:txBody>
          <a:bodyPr wrap="square" lIns="0" tIns="0" rIns="0" bIns="0" rtlCol="0" anchor="ctr"/>
          <a:lstStyle/>
          <a:p>
            <a:pPr indent="0" marL="0">
              <a:buNone/>
            </a:pPr>
            <a:r>
              <a:rPr lang="en-US" sz="1100" i="1" dirty="0">
                <a:solidFill>
                  <a:srgbClr val="5F6B7A"/>
                </a:solidFill>
                <a:latin typeface="Calibri" pitchFamily="34" charset="0"/>
                <a:ea typeface="Calibri" pitchFamily="34" charset="-122"/>
                <a:cs typeface="Calibri" pitchFamily="34" charset="-120"/>
              </a:rPr>
              <a:t>Theme: a light default that runs anywhere, with a heavier transformer upgrade one flag away.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Module C — Multilingual intelligence</a:t>
            </a:r>
            <a:endParaRPr lang="en-US" sz="3000" dirty="0"/>
          </a:p>
        </p:txBody>
      </p:sp>
      <p:sp>
        <p:nvSpPr>
          <p:cNvPr id="3" name="Shape 1"/>
          <p:cNvSpPr/>
          <p:nvPr/>
        </p:nvSpPr>
        <p:spPr>
          <a:xfrm>
            <a:off x="640080" y="2194560"/>
            <a:ext cx="2926080" cy="1645920"/>
          </a:xfrm>
          <a:prstGeom prst="roundRect">
            <a:avLst>
              <a:gd name="adj" fmla="val 4444"/>
            </a:avLst>
          </a:prstGeom>
          <a:solidFill>
            <a:srgbClr val="F4F6FA"/>
          </a:solidFill>
          <a:ln w="9525">
            <a:solidFill>
              <a:srgbClr val="D9DEE8"/>
            </a:solidFill>
            <a:prstDash val="solid"/>
          </a:ln>
        </p:spPr>
      </p:sp>
      <p:sp>
        <p:nvSpPr>
          <p:cNvPr id="4" name="Text 2"/>
          <p:cNvSpPr/>
          <p:nvPr/>
        </p:nvSpPr>
        <p:spPr>
          <a:xfrm>
            <a:off x="777240" y="2194560"/>
            <a:ext cx="2651760" cy="1645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1. Detect
</a:t>
            </a:r>
            <a:pPr algn="ctr" indent="0" marL="0">
              <a:buNone/>
            </a:pPr>
            <a:r>
              <a:rPr lang="en-US" sz="1100" dirty="0">
                <a:solidFill>
                  <a:srgbClr val="22262B"/>
                </a:solidFill>
                <a:latin typeface="Calibri" pitchFamily="34" charset="0"/>
                <a:ea typeface="Calibri" pitchFamily="34" charset="-122"/>
                <a:cs typeface="Calibri" pitchFamily="34" charset="-120"/>
              </a:rPr>
              <a:t>identify the language with langdetect</a:t>
            </a:r>
            <a:endParaRPr lang="en-US" sz="1500" dirty="0"/>
          </a:p>
        </p:txBody>
      </p:sp>
      <p:sp>
        <p:nvSpPr>
          <p:cNvPr id="5" name="Shape 3"/>
          <p:cNvSpPr/>
          <p:nvPr/>
        </p:nvSpPr>
        <p:spPr>
          <a:xfrm>
            <a:off x="4480560" y="2194560"/>
            <a:ext cx="2926080" cy="1645920"/>
          </a:xfrm>
          <a:prstGeom prst="roundRect">
            <a:avLst>
              <a:gd name="adj" fmla="val 4444"/>
            </a:avLst>
          </a:prstGeom>
          <a:solidFill>
            <a:srgbClr val="F4F6FA"/>
          </a:solidFill>
          <a:ln w="9525">
            <a:solidFill>
              <a:srgbClr val="D9DEE8"/>
            </a:solidFill>
            <a:prstDash val="solid"/>
          </a:ln>
        </p:spPr>
      </p:sp>
      <p:sp>
        <p:nvSpPr>
          <p:cNvPr id="6" name="Text 4"/>
          <p:cNvSpPr/>
          <p:nvPr/>
        </p:nvSpPr>
        <p:spPr>
          <a:xfrm>
            <a:off x="4617720" y="2194560"/>
            <a:ext cx="2651760" cy="1645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2. Translate
</a:t>
            </a:r>
            <a:pPr algn="ctr" indent="0" marL="0">
              <a:buNone/>
            </a:pPr>
            <a:r>
              <a:rPr lang="en-US" sz="1100" dirty="0">
                <a:solidFill>
                  <a:srgbClr val="22262B"/>
                </a:solidFill>
                <a:latin typeface="Calibri" pitchFamily="34" charset="0"/>
                <a:ea typeface="Calibri" pitchFamily="34" charset="-122"/>
                <a:cs typeface="Calibri" pitchFamily="34" charset="-120"/>
              </a:rPr>
              <a:t>to English with deep-translator</a:t>
            </a:r>
            <a:endParaRPr lang="en-US" sz="1500" dirty="0"/>
          </a:p>
        </p:txBody>
      </p:sp>
      <p:sp>
        <p:nvSpPr>
          <p:cNvPr id="7" name="Shape 5"/>
          <p:cNvSpPr/>
          <p:nvPr/>
        </p:nvSpPr>
        <p:spPr>
          <a:xfrm>
            <a:off x="8321040" y="2194560"/>
            <a:ext cx="2926080" cy="1645920"/>
          </a:xfrm>
          <a:prstGeom prst="roundRect">
            <a:avLst>
              <a:gd name="adj" fmla="val 4444"/>
            </a:avLst>
          </a:prstGeom>
          <a:solidFill>
            <a:srgbClr val="F4F6FA"/>
          </a:solidFill>
          <a:ln w="9525">
            <a:solidFill>
              <a:srgbClr val="D9DEE8"/>
            </a:solidFill>
            <a:prstDash val="solid"/>
          </a:ln>
        </p:spPr>
      </p:sp>
      <p:sp>
        <p:nvSpPr>
          <p:cNvPr id="8" name="Text 6"/>
          <p:cNvSpPr/>
          <p:nvPr/>
        </p:nvSpPr>
        <p:spPr>
          <a:xfrm>
            <a:off x="8458200" y="2194560"/>
            <a:ext cx="2651760" cy="1645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3. Analyze
</a:t>
            </a:r>
            <a:pPr algn="ctr" indent="0" marL="0">
              <a:buNone/>
            </a:pPr>
            <a:r>
              <a:rPr lang="en-US" sz="1100" dirty="0">
                <a:solidFill>
                  <a:srgbClr val="22262B"/>
                </a:solidFill>
                <a:latin typeface="Calibri" pitchFamily="34" charset="0"/>
                <a:ea typeface="Calibri" pitchFamily="34" charset="-122"/>
                <a:cs typeface="Calibri" pitchFamily="34" charset="-120"/>
              </a:rPr>
              <a:t>run the trusted English pipeline</a:t>
            </a:r>
            <a:endParaRPr lang="en-US" sz="1500" dirty="0"/>
          </a:p>
        </p:txBody>
      </p:sp>
      <p:sp>
        <p:nvSpPr>
          <p:cNvPr id="9" name="Text 7"/>
          <p:cNvSpPr/>
          <p:nvPr/>
        </p:nvSpPr>
        <p:spPr>
          <a:xfrm>
            <a:off x="3566160" y="2514600"/>
            <a:ext cx="914400" cy="914400"/>
          </a:xfrm>
          <a:prstGeom prst="rect">
            <a:avLst/>
          </a:prstGeom>
          <a:noFill/>
          <a:ln/>
        </p:spPr>
        <p:txBody>
          <a:bodyPr wrap="square" lIns="0" tIns="0" rIns="0" bIns="0" rtlCol="0" anchor="ctr"/>
          <a:lstStyle/>
          <a:p>
            <a:pPr algn="ctr" indent="0" marL="0">
              <a:buNone/>
            </a:pPr>
            <a:r>
              <a:rPr lang="en-US" sz="3400" b="1" dirty="0">
                <a:solidFill>
                  <a:srgbClr val="F97316"/>
                </a:solidFill>
                <a:latin typeface="Calibri" pitchFamily="34" charset="0"/>
                <a:ea typeface="Calibri" pitchFamily="34" charset="-122"/>
                <a:cs typeface="Calibri" pitchFamily="34" charset="-120"/>
              </a:rPr>
              <a:t>→</a:t>
            </a:r>
            <a:endParaRPr lang="en-US" sz="3400" dirty="0"/>
          </a:p>
        </p:txBody>
      </p:sp>
      <p:sp>
        <p:nvSpPr>
          <p:cNvPr id="10" name="Text 8"/>
          <p:cNvSpPr/>
          <p:nvPr/>
        </p:nvSpPr>
        <p:spPr>
          <a:xfrm>
            <a:off x="7406640" y="2514600"/>
            <a:ext cx="914400" cy="914400"/>
          </a:xfrm>
          <a:prstGeom prst="rect">
            <a:avLst/>
          </a:prstGeom>
          <a:noFill/>
          <a:ln/>
        </p:spPr>
        <p:txBody>
          <a:bodyPr wrap="square" lIns="0" tIns="0" rIns="0" bIns="0" rtlCol="0" anchor="ctr"/>
          <a:lstStyle/>
          <a:p>
            <a:pPr algn="ctr" indent="0" marL="0">
              <a:buNone/>
            </a:pPr>
            <a:r>
              <a:rPr lang="en-US" sz="3400" b="1" dirty="0">
                <a:solidFill>
                  <a:srgbClr val="F97316"/>
                </a:solidFill>
                <a:latin typeface="Calibri" pitchFamily="34" charset="0"/>
                <a:ea typeface="Calibri" pitchFamily="34" charset="-122"/>
                <a:cs typeface="Calibri" pitchFamily="34" charset="-120"/>
              </a:rPr>
              <a:t>→</a:t>
            </a:r>
            <a:endParaRPr lang="en-US" sz="3400" dirty="0"/>
          </a:p>
        </p:txBody>
      </p:sp>
      <p:sp>
        <p:nvSpPr>
          <p:cNvPr id="11" name="Text 9"/>
          <p:cNvSpPr/>
          <p:nvPr/>
        </p:nvSpPr>
        <p:spPr>
          <a:xfrm>
            <a:off x="640080" y="4297680"/>
            <a:ext cx="10881360" cy="914400"/>
          </a:xfrm>
          <a:prstGeom prst="rect">
            <a:avLst/>
          </a:prstGeom>
          <a:noFill/>
          <a:ln/>
        </p:spPr>
        <p:txBody>
          <a:bodyPr wrap="square" lIns="0" tIns="0" rIns="0" bIns="0" rtlCol="0" anchor="ctr"/>
          <a:lstStyle/>
          <a:p>
            <a:pPr indent="0" marL="0">
              <a:buNone/>
            </a:pPr>
            <a:r>
              <a:rPr lang="en-US" sz="1300" dirty="0">
                <a:solidFill>
                  <a:srgbClr val="22262B"/>
                </a:solidFill>
                <a:latin typeface="Calibri" pitchFamily="34" charset="0"/>
                <a:ea typeface="Calibri" pitchFamily="34" charset="-122"/>
                <a:cs typeface="Calibri" pitchFamily="34" charset="-120"/>
              </a:rPr>
              <a:t>A Spanish or French article gets the same classification, sentiment, and entities as an English one. Translating into English is the honest choice with these tools, rather than pretending English-trained models read every language.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Module D — Conversational interface</a:t>
            </a:r>
            <a:endParaRPr lang="en-US" sz="3000" dirty="0"/>
          </a:p>
        </p:txBody>
      </p:sp>
      <p:sp>
        <p:nvSpPr>
          <p:cNvPr id="3" name="Shape 1"/>
          <p:cNvSpPr/>
          <p:nvPr/>
        </p:nvSpPr>
        <p:spPr>
          <a:xfrm>
            <a:off x="548640" y="2194560"/>
            <a:ext cx="2468880" cy="1554480"/>
          </a:xfrm>
          <a:prstGeom prst="roundRect">
            <a:avLst>
              <a:gd name="adj" fmla="val 4706"/>
            </a:avLst>
          </a:prstGeom>
          <a:solidFill>
            <a:srgbClr val="F4F6FA"/>
          </a:solidFill>
          <a:ln w="9525">
            <a:solidFill>
              <a:srgbClr val="D9DEE8"/>
            </a:solidFill>
            <a:prstDash val="solid"/>
          </a:ln>
        </p:spPr>
      </p:sp>
      <p:sp>
        <p:nvSpPr>
          <p:cNvPr id="4" name="Text 2"/>
          <p:cNvSpPr/>
          <p:nvPr/>
        </p:nvSpPr>
        <p:spPr>
          <a:xfrm>
            <a:off x="658368" y="2194560"/>
            <a:ext cx="2249424" cy="1554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"What is the sentiment?"
</a:t>
            </a:r>
            <a:pPr algn="ctr" indent="0" marL="0">
              <a:buNone/>
            </a:pPr>
            <a:r>
              <a:rPr lang="en-US" sz="1050" dirty="0">
                <a:solidFill>
                  <a:srgbClr val="22262B"/>
                </a:solidFill>
                <a:latin typeface="Calibri" pitchFamily="34" charset="0"/>
                <a:ea typeface="Calibri" pitchFamily="34" charset="-122"/>
                <a:cs typeface="Calibri" pitchFamily="34" charset="-120"/>
              </a:rPr>
              <a:t>a plain question</a:t>
            </a:r>
            <a:endParaRPr lang="en-US" sz="1300" dirty="0"/>
          </a:p>
        </p:txBody>
      </p:sp>
      <p:sp>
        <p:nvSpPr>
          <p:cNvPr id="5" name="Shape 3"/>
          <p:cNvSpPr/>
          <p:nvPr/>
        </p:nvSpPr>
        <p:spPr>
          <a:xfrm>
            <a:off x="3429000" y="2194560"/>
            <a:ext cx="2468880" cy="1554480"/>
          </a:xfrm>
          <a:prstGeom prst="roundRect">
            <a:avLst>
              <a:gd name="adj" fmla="val 4706"/>
            </a:avLst>
          </a:prstGeom>
          <a:solidFill>
            <a:srgbClr val="EEF3FB"/>
          </a:solidFill>
          <a:ln w="9525">
            <a:solidFill>
              <a:srgbClr val="D9DEE8"/>
            </a:solidFill>
            <a:prstDash val="solid"/>
          </a:ln>
        </p:spPr>
      </p:sp>
      <p:sp>
        <p:nvSpPr>
          <p:cNvPr id="6" name="Text 4"/>
          <p:cNvSpPr/>
          <p:nvPr/>
        </p:nvSpPr>
        <p:spPr>
          <a:xfrm>
            <a:off x="3538728" y="2194560"/>
            <a:ext cx="2249424" cy="1554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Intent classifier
</a:t>
            </a:r>
            <a:pPr algn="ctr" indent="0" marL="0">
              <a:buNone/>
            </a:pPr>
            <a:r>
              <a:rPr lang="en-US" sz="1050" dirty="0">
                <a:solidFill>
                  <a:srgbClr val="22262B"/>
                </a:solidFill>
                <a:latin typeface="Calibri" pitchFamily="34" charset="0"/>
                <a:ea typeface="Calibri" pitchFamily="34" charset="-122"/>
                <a:cs typeface="Calibri" pitchFamily="34" charset="-120"/>
              </a:rPr>
              <a:t>6 intents detected</a:t>
            </a:r>
            <a:endParaRPr lang="en-US" sz="1300" dirty="0"/>
          </a:p>
        </p:txBody>
      </p:sp>
      <p:sp>
        <p:nvSpPr>
          <p:cNvPr id="7" name="Shape 5"/>
          <p:cNvSpPr/>
          <p:nvPr/>
        </p:nvSpPr>
        <p:spPr>
          <a:xfrm>
            <a:off x="6309360" y="2194560"/>
            <a:ext cx="2468880" cy="1554480"/>
          </a:xfrm>
          <a:prstGeom prst="roundRect">
            <a:avLst>
              <a:gd name="adj" fmla="val 4706"/>
            </a:avLst>
          </a:prstGeom>
          <a:solidFill>
            <a:srgbClr val="1E2761"/>
          </a:solidFill>
          <a:ln w="9525">
            <a:solidFill>
              <a:srgbClr val="D9DEE8"/>
            </a:solidFill>
            <a:prstDash val="solid"/>
          </a:ln>
        </p:spPr>
      </p:sp>
      <p:sp>
        <p:nvSpPr>
          <p:cNvPr id="8" name="Text 6"/>
          <p:cNvSpPr/>
          <p:nvPr/>
        </p:nvSpPr>
        <p:spPr>
          <a:xfrm>
            <a:off x="6419088" y="2194560"/>
            <a:ext cx="2249424" cy="1554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Query processor
</a:t>
            </a:r>
            <a:pPr algn="ctr" indent="0" marL="0">
              <a:buNone/>
            </a:pPr>
            <a:r>
              <a:rPr lang="en-US" sz="1050" dirty="0">
                <a:solidFill>
                  <a:srgbClr val="CADCFC"/>
                </a:solidFill>
                <a:latin typeface="Calibri" pitchFamily="34" charset="0"/>
                <a:ea typeface="Calibri" pitchFamily="34" charset="-122"/>
                <a:cs typeface="Calibri" pitchFamily="34" charset="-120"/>
              </a:rPr>
              <a:t>routed to the right module</a:t>
            </a:r>
            <a:endParaRPr lang="en-US" sz="1300" dirty="0"/>
          </a:p>
        </p:txBody>
      </p:sp>
      <p:sp>
        <p:nvSpPr>
          <p:cNvPr id="9" name="Shape 7"/>
          <p:cNvSpPr/>
          <p:nvPr/>
        </p:nvSpPr>
        <p:spPr>
          <a:xfrm>
            <a:off x="9189720" y="2194560"/>
            <a:ext cx="2468880" cy="1554480"/>
          </a:xfrm>
          <a:prstGeom prst="roundRect">
            <a:avLst>
              <a:gd name="adj" fmla="val 4706"/>
            </a:avLst>
          </a:prstGeom>
          <a:solidFill>
            <a:srgbClr val="FDECDD"/>
          </a:solidFill>
          <a:ln w="9525">
            <a:solidFill>
              <a:srgbClr val="D9DEE8"/>
            </a:solidFill>
            <a:prstDash val="solid"/>
          </a:ln>
        </p:spPr>
      </p:sp>
      <p:sp>
        <p:nvSpPr>
          <p:cNvPr id="10" name="Text 8"/>
          <p:cNvSpPr/>
          <p:nvPr/>
        </p:nvSpPr>
        <p:spPr>
          <a:xfrm>
            <a:off x="9299448" y="2194560"/>
            <a:ext cx="2249424" cy="1554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Response
</a:t>
            </a:r>
            <a:pPr algn="ctr" indent="0" marL="0">
              <a:buNone/>
            </a:pPr>
            <a:r>
              <a:rPr lang="en-US" sz="1050" dirty="0">
                <a:solidFill>
                  <a:srgbClr val="22262B"/>
                </a:solidFill>
                <a:latin typeface="Calibri" pitchFamily="34" charset="0"/>
                <a:ea typeface="Calibri" pitchFamily="34" charset="-122"/>
                <a:cs typeface="Calibri" pitchFamily="34" charset="-120"/>
              </a:rPr>
              <a:t>formatted in plain English</a:t>
            </a:r>
            <a:endParaRPr lang="en-US" sz="1300" dirty="0"/>
          </a:p>
        </p:txBody>
      </p:sp>
      <p:sp>
        <p:nvSpPr>
          <p:cNvPr id="11" name="Text 9"/>
          <p:cNvSpPr/>
          <p:nvPr/>
        </p:nvSpPr>
        <p:spPr>
          <a:xfrm>
            <a:off x="3063240" y="2514600"/>
            <a:ext cx="457200" cy="914400"/>
          </a:xfrm>
          <a:prstGeom prst="rect">
            <a:avLst/>
          </a:prstGeom>
          <a:noFill/>
          <a:ln/>
        </p:spPr>
        <p:txBody>
          <a:bodyPr wrap="square" lIns="0" tIns="0" rIns="0" bIns="0" rtlCol="0" anchor="ctr"/>
          <a:lstStyle/>
          <a:p>
            <a:pPr algn="ctr" indent="0" marL="0">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5943600" y="2514600"/>
            <a:ext cx="457200" cy="914400"/>
          </a:xfrm>
          <a:prstGeom prst="rect">
            <a:avLst/>
          </a:prstGeom>
          <a:noFill/>
          <a:ln/>
        </p:spPr>
        <p:txBody>
          <a:bodyPr wrap="square" lIns="0" tIns="0" rIns="0" bIns="0" rtlCol="0" anchor="ctr"/>
          <a:lstStyle/>
          <a:p>
            <a:pPr algn="ctr" indent="0" marL="0">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13" name="Text 11"/>
          <p:cNvSpPr/>
          <p:nvPr/>
        </p:nvSpPr>
        <p:spPr>
          <a:xfrm>
            <a:off x="8823960" y="2514600"/>
            <a:ext cx="457200" cy="914400"/>
          </a:xfrm>
          <a:prstGeom prst="rect">
            <a:avLst/>
          </a:prstGeom>
          <a:noFill/>
          <a:ln/>
        </p:spPr>
        <p:txBody>
          <a:bodyPr wrap="square" lIns="0" tIns="0" rIns="0" bIns="0" rtlCol="0" anchor="ctr"/>
          <a:lstStyle/>
          <a:p>
            <a:pPr algn="ctr" indent="0" marL="0">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548640" y="4206240"/>
            <a:ext cx="11064240" cy="914400"/>
          </a:xfrm>
          <a:prstGeom prst="rect">
            <a:avLst/>
          </a:prstGeom>
          <a:noFill/>
          <a:ln/>
        </p:spPr>
        <p:txBody>
          <a:bodyPr wrap="square" lIns="0" tIns="0" rIns="0" bIns="0" rtlCol="0" anchor="ctr"/>
          <a:lstStyle/>
          <a:p>
            <a:pPr indent="0" marL="0">
              <a:buNone/>
            </a:pPr>
            <a:r>
              <a:rPr lang="en-US" sz="1300" dirty="0">
                <a:solidFill>
                  <a:srgbClr val="22262B"/>
                </a:solidFill>
                <a:latin typeface="Calibri" pitchFamily="34" charset="0"/>
                <a:ea typeface="Calibri" pitchFamily="34" charset="-122"/>
                <a:cs typeface="Calibri" pitchFamily="34" charset="-120"/>
              </a:rPr>
              <a:t>Intents: classify, sentiment, entities, summarize, search, topics. This only works because each capability is a clean class the router can call. It is the piece that ties the whole system together.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Web application (bonus frontend)</a:t>
            </a:r>
            <a:endParaRPr lang="en-US" sz="3000" dirty="0"/>
          </a:p>
        </p:txBody>
      </p:sp>
      <p:sp>
        <p:nvSpPr>
          <p:cNvPr id="3" name="Shape 1"/>
          <p:cNvSpPr/>
          <p:nvPr/>
        </p:nvSpPr>
        <p:spPr>
          <a:xfrm>
            <a:off x="548640" y="1600200"/>
            <a:ext cx="3566160" cy="4206240"/>
          </a:xfrm>
          <a:prstGeom prst="roundRect">
            <a:avLst>
              <a:gd name="adj" fmla="val 2051"/>
            </a:avLst>
          </a:prstGeom>
          <a:solidFill>
            <a:srgbClr val="F4F6FA"/>
          </a:solidFill>
          <a:ln w="9525">
            <a:solidFill>
              <a:srgbClr val="D9DEE8"/>
            </a:solidFill>
            <a:prstDash val="solid"/>
          </a:ln>
        </p:spPr>
      </p:sp>
      <p:sp>
        <p:nvSpPr>
          <p:cNvPr id="4" name="Text 2"/>
          <p:cNvSpPr/>
          <p:nvPr/>
        </p:nvSpPr>
        <p:spPr>
          <a:xfrm>
            <a:off x="731520" y="1737360"/>
            <a:ext cx="32004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Analyze an article</a:t>
            </a:r>
            <a:endParaRPr lang="en-US" sz="1450" dirty="0"/>
          </a:p>
        </p:txBody>
      </p:sp>
      <p:sp>
        <p:nvSpPr>
          <p:cNvPr id="5" name="Text 3"/>
          <p:cNvSpPr/>
          <p:nvPr/>
        </p:nvSpPr>
        <p:spPr>
          <a:xfrm>
            <a:off x="731520" y="2167128"/>
            <a:ext cx="3200400" cy="35204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Paste text, get category and confidence, sentiment and emotion, entities, key terms, and a summary.</a:t>
            </a:r>
            <a:endParaRPr lang="en-US" sz="1150" dirty="0"/>
          </a:p>
        </p:txBody>
      </p:sp>
      <p:sp>
        <p:nvSpPr>
          <p:cNvPr id="6" name="Shape 4"/>
          <p:cNvSpPr/>
          <p:nvPr/>
        </p:nvSpPr>
        <p:spPr>
          <a:xfrm>
            <a:off x="4297680" y="1600200"/>
            <a:ext cx="3566160" cy="4206240"/>
          </a:xfrm>
          <a:prstGeom prst="roundRect">
            <a:avLst>
              <a:gd name="adj" fmla="val 2051"/>
            </a:avLst>
          </a:prstGeom>
          <a:solidFill>
            <a:srgbClr val="EEF3FB"/>
          </a:solidFill>
          <a:ln w="9525">
            <a:solidFill>
              <a:srgbClr val="D9DEE8"/>
            </a:solidFill>
            <a:prstDash val="solid"/>
          </a:ln>
        </p:spPr>
      </p:sp>
      <p:sp>
        <p:nvSpPr>
          <p:cNvPr id="7" name="Text 5"/>
          <p:cNvSpPr/>
          <p:nvPr/>
        </p:nvSpPr>
        <p:spPr>
          <a:xfrm>
            <a:off x="4480560" y="1737360"/>
            <a:ext cx="32004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Ask NewsBot</a:t>
            </a:r>
            <a:endParaRPr lang="en-US" sz="1450" dirty="0"/>
          </a:p>
        </p:txBody>
      </p:sp>
      <p:sp>
        <p:nvSpPr>
          <p:cNvPr id="8" name="Text 6"/>
          <p:cNvSpPr/>
          <p:nvPr/>
        </p:nvSpPr>
        <p:spPr>
          <a:xfrm>
            <a:off x="4480560" y="2167128"/>
            <a:ext cx="3200400" cy="35204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Type a question about the article in plain English and get a routed answer.</a:t>
            </a:r>
            <a:endParaRPr lang="en-US" sz="1150" dirty="0"/>
          </a:p>
        </p:txBody>
      </p:sp>
      <p:sp>
        <p:nvSpPr>
          <p:cNvPr id="9" name="Shape 7"/>
          <p:cNvSpPr/>
          <p:nvPr/>
        </p:nvSpPr>
        <p:spPr>
          <a:xfrm>
            <a:off x="8046720" y="1600200"/>
            <a:ext cx="3566160" cy="4206240"/>
          </a:xfrm>
          <a:prstGeom prst="roundRect">
            <a:avLst>
              <a:gd name="adj" fmla="val 2051"/>
            </a:avLst>
          </a:prstGeom>
          <a:solidFill>
            <a:srgbClr val="FDECDD"/>
          </a:solidFill>
          <a:ln w="9525">
            <a:solidFill>
              <a:srgbClr val="D9DEE8"/>
            </a:solidFill>
            <a:prstDash val="solid"/>
          </a:ln>
        </p:spPr>
      </p:sp>
      <p:sp>
        <p:nvSpPr>
          <p:cNvPr id="10" name="Text 8"/>
          <p:cNvSpPr/>
          <p:nvPr/>
        </p:nvSpPr>
        <p:spPr>
          <a:xfrm>
            <a:off x="8229600" y="1737360"/>
            <a:ext cx="32004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Find similar articles</a:t>
            </a:r>
            <a:endParaRPr lang="en-US" sz="1450" dirty="0"/>
          </a:p>
        </p:txBody>
      </p:sp>
      <p:sp>
        <p:nvSpPr>
          <p:cNvPr id="11" name="Text 9"/>
          <p:cNvSpPr/>
          <p:nvPr/>
        </p:nvSpPr>
        <p:spPr>
          <a:xfrm>
            <a:off x="8229600" y="2167128"/>
            <a:ext cx="3200400" cy="352044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Enter a phrase and get the closest coverage by meaning, ranked by similarity.</a:t>
            </a:r>
            <a:endParaRPr lang="en-US" sz="1150" dirty="0"/>
          </a:p>
        </p:txBody>
      </p:sp>
      <p:sp>
        <p:nvSpPr>
          <p:cNvPr id="12" name="Text 10"/>
          <p:cNvSpPr/>
          <p:nvPr/>
        </p:nvSpPr>
        <p:spPr>
          <a:xfrm>
            <a:off x="548640" y="5989320"/>
            <a:ext cx="10972800" cy="365760"/>
          </a:xfrm>
          <a:prstGeom prst="rect">
            <a:avLst/>
          </a:prstGeom>
          <a:noFill/>
          <a:ln/>
        </p:spPr>
        <p:txBody>
          <a:bodyPr wrap="square" lIns="0" tIns="0" rIns="0" bIns="0" rtlCol="0" anchor="ctr"/>
          <a:lstStyle/>
          <a:p>
            <a:pPr indent="0" marL="0">
              <a:buNone/>
            </a:pPr>
            <a:r>
              <a:rPr lang="en-US" sz="1100" i="1" dirty="0">
                <a:solidFill>
                  <a:srgbClr val="5F6B7A"/>
                </a:solidFill>
                <a:latin typeface="Calibri" pitchFamily="34" charset="0"/>
                <a:ea typeface="Calibri" pitchFamily="34" charset="-122"/>
                <a:cs typeface="Calibri" pitchFamily="34" charset="-120"/>
              </a:rPr>
              <a:t>Same module code, exposed in a browser so a non-technical user can use the system. Flask + HTML/CSS/JS.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Live demo — four fresh articles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206240"/>
                <a:gridCol w="2194560"/>
                <a:gridCol w="2194560"/>
                <a:gridCol w="24688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Article</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Predicted</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Confidence</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Sentiment / emotion</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r>
              <a:tr h="566928">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AI system launch</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tech</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0.91</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positive / neutral</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Nasdaq and Apple selloff</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business</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positive / neutral</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r>
              <a:tr h="566928">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World Cup and Stanley Cup</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sport</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0.96</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positive / joy</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UK prime minister resigns</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politics</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positive / neutral</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r>
            </a:tbl>
          </a:graphicData>
        </a:graphic>
      </p:graphicFrame>
      <p:sp>
        <p:nvSpPr>
          <p:cNvPr id="4" name="Text 1"/>
          <p:cNvSpPr/>
          <p:nvPr/>
        </p:nvSpPr>
        <p:spPr>
          <a:xfrm>
            <a:off x="548640" y="5212080"/>
            <a:ext cx="10972800" cy="45720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All four correct with high confidence. Short off-topic input returns 'uncertain' rather than a forced label.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Discovered topics (LDA, no labels)</a:t>
            </a:r>
            <a:endParaRPr lang="en-US" sz="3000" dirty="0"/>
          </a:p>
        </p:txBody>
      </p:sp>
      <p:sp>
        <p:nvSpPr>
          <p:cNvPr id="3" name="Shape 1"/>
          <p:cNvSpPr/>
          <p:nvPr/>
        </p:nvSpPr>
        <p:spPr>
          <a:xfrm>
            <a:off x="640080" y="1600200"/>
            <a:ext cx="457200" cy="457200"/>
          </a:xfrm>
          <a:prstGeom prst="ellipse">
            <a:avLst/>
          </a:prstGeom>
          <a:solidFill>
            <a:srgbClr val="1E2761"/>
          </a:solidFill>
          <a:ln/>
        </p:spPr>
      </p:sp>
      <p:sp>
        <p:nvSpPr>
          <p:cNvPr id="4" name="Text 2"/>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5" name="Shape 3"/>
          <p:cNvSpPr/>
          <p:nvPr/>
        </p:nvSpPr>
        <p:spPr>
          <a:xfrm>
            <a:off x="1280160" y="1600200"/>
            <a:ext cx="10241280" cy="713232"/>
          </a:xfrm>
          <a:prstGeom prst="roundRect">
            <a:avLst>
              <a:gd name="adj" fmla="val 7692"/>
            </a:avLst>
          </a:prstGeom>
          <a:solidFill>
            <a:srgbClr val="EEF3FB"/>
          </a:solidFill>
          <a:ln w="6350">
            <a:solidFill>
              <a:srgbClr val="D9DEE8"/>
            </a:solidFill>
            <a:prstDash val="solid"/>
          </a:ln>
        </p:spPr>
      </p:sp>
      <p:sp>
        <p:nvSpPr>
          <p:cNvPr id="6" name="Text 4"/>
          <p:cNvSpPr/>
          <p:nvPr/>
        </p:nvSpPr>
        <p:spPr>
          <a:xfrm>
            <a:off x="1463040" y="1600200"/>
            <a:ext cx="9875520" cy="7132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Topic 0 — Sport    </a:t>
            </a:r>
            <a:pPr indent="0" marL="0">
              <a:buNone/>
            </a:pPr>
            <a:r>
              <a:rPr lang="en-US" sz="1200" dirty="0">
                <a:solidFill>
                  <a:srgbClr val="22262B"/>
                </a:solidFill>
                <a:latin typeface="Calibri" pitchFamily="34" charset="0"/>
                <a:ea typeface="Calibri" pitchFamily="34" charset="-122"/>
                <a:cs typeface="Calibri" pitchFamily="34" charset="-120"/>
              </a:rPr>
              <a:t>game, player, england, time, first, year</a:t>
            </a:r>
            <a:endParaRPr lang="en-US" sz="1300" dirty="0"/>
          </a:p>
        </p:txBody>
      </p:sp>
      <p:sp>
        <p:nvSpPr>
          <p:cNvPr id="7" name="Shape 5"/>
          <p:cNvSpPr/>
          <p:nvPr/>
        </p:nvSpPr>
        <p:spPr>
          <a:xfrm>
            <a:off x="640080" y="2496312"/>
            <a:ext cx="457200" cy="457200"/>
          </a:xfrm>
          <a:prstGeom prst="ellipse">
            <a:avLst/>
          </a:prstGeom>
          <a:solidFill>
            <a:srgbClr val="1E2761"/>
          </a:solidFill>
          <a:ln/>
        </p:spPr>
      </p:sp>
      <p:sp>
        <p:nvSpPr>
          <p:cNvPr id="8" name="Text 6"/>
          <p:cNvSpPr/>
          <p:nvPr/>
        </p:nvSpPr>
        <p:spPr>
          <a:xfrm>
            <a:off x="640080" y="2496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Shape 7"/>
          <p:cNvSpPr/>
          <p:nvPr/>
        </p:nvSpPr>
        <p:spPr>
          <a:xfrm>
            <a:off x="1280160" y="2496312"/>
            <a:ext cx="10241280" cy="713232"/>
          </a:xfrm>
          <a:prstGeom prst="roundRect">
            <a:avLst>
              <a:gd name="adj" fmla="val 7692"/>
            </a:avLst>
          </a:prstGeom>
          <a:solidFill>
            <a:srgbClr val="F4F6FA"/>
          </a:solidFill>
          <a:ln w="6350">
            <a:solidFill>
              <a:srgbClr val="D9DEE8"/>
            </a:solidFill>
            <a:prstDash val="solid"/>
          </a:ln>
        </p:spPr>
      </p:sp>
      <p:sp>
        <p:nvSpPr>
          <p:cNvPr id="10" name="Text 8"/>
          <p:cNvSpPr/>
          <p:nvPr/>
        </p:nvSpPr>
        <p:spPr>
          <a:xfrm>
            <a:off x="1463040" y="2496312"/>
            <a:ext cx="9875520" cy="7132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Topic 1 — Entertainment    </a:t>
            </a:r>
            <a:pPr indent="0" marL="0">
              <a:buNone/>
            </a:pPr>
            <a:r>
              <a:rPr lang="en-US" sz="1200" dirty="0">
                <a:solidFill>
                  <a:srgbClr val="22262B"/>
                </a:solidFill>
                <a:latin typeface="Calibri" pitchFamily="34" charset="0"/>
                <a:ea typeface="Calibri" pitchFamily="34" charset="-122"/>
                <a:cs typeface="Calibri" pitchFamily="34" charset="-120"/>
              </a:rPr>
              <a:t>film, best, award, show, star, year</a:t>
            </a:r>
            <a:endParaRPr lang="en-US" sz="1300" dirty="0"/>
          </a:p>
        </p:txBody>
      </p:sp>
      <p:sp>
        <p:nvSpPr>
          <p:cNvPr id="11" name="Shape 9"/>
          <p:cNvSpPr/>
          <p:nvPr/>
        </p:nvSpPr>
        <p:spPr>
          <a:xfrm>
            <a:off x="640080" y="3392424"/>
            <a:ext cx="457200" cy="457200"/>
          </a:xfrm>
          <a:prstGeom prst="ellipse">
            <a:avLst/>
          </a:prstGeom>
          <a:solidFill>
            <a:srgbClr val="1E2761"/>
          </a:solidFill>
          <a:ln/>
        </p:spPr>
      </p:sp>
      <p:sp>
        <p:nvSpPr>
          <p:cNvPr id="12" name="Text 10"/>
          <p:cNvSpPr/>
          <p:nvPr/>
        </p:nvSpPr>
        <p:spPr>
          <a:xfrm>
            <a:off x="640080" y="33924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1"/>
          <p:cNvSpPr/>
          <p:nvPr/>
        </p:nvSpPr>
        <p:spPr>
          <a:xfrm>
            <a:off x="1280160" y="3392424"/>
            <a:ext cx="10241280" cy="713232"/>
          </a:xfrm>
          <a:prstGeom prst="roundRect">
            <a:avLst>
              <a:gd name="adj" fmla="val 7692"/>
            </a:avLst>
          </a:prstGeom>
          <a:solidFill>
            <a:srgbClr val="EEF3FB"/>
          </a:solidFill>
          <a:ln w="6350">
            <a:solidFill>
              <a:srgbClr val="D9DEE8"/>
            </a:solidFill>
            <a:prstDash val="solid"/>
          </a:ln>
        </p:spPr>
      </p:sp>
      <p:sp>
        <p:nvSpPr>
          <p:cNvPr id="14" name="Text 12"/>
          <p:cNvSpPr/>
          <p:nvPr/>
        </p:nvSpPr>
        <p:spPr>
          <a:xfrm>
            <a:off x="1463040" y="3392424"/>
            <a:ext cx="9875520" cy="7132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Topic 2 — Tech / mobile    </a:t>
            </a:r>
            <a:pPr indent="0" marL="0">
              <a:buNone/>
            </a:pPr>
            <a:r>
              <a:rPr lang="en-US" sz="1200" dirty="0">
                <a:solidFill>
                  <a:srgbClr val="22262B"/>
                </a:solidFill>
                <a:latin typeface="Calibri" pitchFamily="34" charset="0"/>
                <a:ea typeface="Calibri" pitchFamily="34" charset="-122"/>
                <a:cs typeface="Calibri" pitchFamily="34" charset="-120"/>
              </a:rPr>
              <a:t>mobile, technology, phone, service, people</a:t>
            </a:r>
            <a:endParaRPr lang="en-US" sz="1300" dirty="0"/>
          </a:p>
        </p:txBody>
      </p:sp>
      <p:sp>
        <p:nvSpPr>
          <p:cNvPr id="15" name="Shape 13"/>
          <p:cNvSpPr/>
          <p:nvPr/>
        </p:nvSpPr>
        <p:spPr>
          <a:xfrm>
            <a:off x="640080" y="4288536"/>
            <a:ext cx="457200" cy="457200"/>
          </a:xfrm>
          <a:prstGeom prst="ellipse">
            <a:avLst/>
          </a:prstGeom>
          <a:solidFill>
            <a:srgbClr val="1E2761"/>
          </a:solidFill>
          <a:ln/>
        </p:spPr>
      </p:sp>
      <p:sp>
        <p:nvSpPr>
          <p:cNvPr id="16" name="Text 14"/>
          <p:cNvSpPr/>
          <p:nvPr/>
        </p:nvSpPr>
        <p:spPr>
          <a:xfrm>
            <a:off x="640080" y="42885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Shape 15"/>
          <p:cNvSpPr/>
          <p:nvPr/>
        </p:nvSpPr>
        <p:spPr>
          <a:xfrm>
            <a:off x="1280160" y="4288536"/>
            <a:ext cx="10241280" cy="713232"/>
          </a:xfrm>
          <a:prstGeom prst="roundRect">
            <a:avLst>
              <a:gd name="adj" fmla="val 7692"/>
            </a:avLst>
          </a:prstGeom>
          <a:solidFill>
            <a:srgbClr val="F4F6FA"/>
          </a:solidFill>
          <a:ln w="6350">
            <a:solidFill>
              <a:srgbClr val="D9DEE8"/>
            </a:solidFill>
            <a:prstDash val="solid"/>
          </a:ln>
        </p:spPr>
      </p:sp>
      <p:sp>
        <p:nvSpPr>
          <p:cNvPr id="18" name="Text 16"/>
          <p:cNvSpPr/>
          <p:nvPr/>
        </p:nvSpPr>
        <p:spPr>
          <a:xfrm>
            <a:off x="1463040" y="4288536"/>
            <a:ext cx="9875520" cy="7132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Topic 3 — Business / markets    </a:t>
            </a:r>
            <a:pPr indent="0" marL="0">
              <a:buNone/>
            </a:pPr>
            <a:r>
              <a:rPr lang="en-US" sz="1200" dirty="0">
                <a:solidFill>
                  <a:srgbClr val="22262B"/>
                </a:solidFill>
                <a:latin typeface="Calibri" pitchFamily="34" charset="0"/>
                <a:ea typeface="Calibri" pitchFamily="34" charset="-122"/>
                <a:cs typeface="Calibri" pitchFamily="34" charset="-120"/>
              </a:rPr>
              <a:t>company, market, sale, firm, tax, year</a:t>
            </a:r>
            <a:endParaRPr lang="en-US" sz="1300" dirty="0"/>
          </a:p>
        </p:txBody>
      </p:sp>
      <p:sp>
        <p:nvSpPr>
          <p:cNvPr id="19" name="Shape 17"/>
          <p:cNvSpPr/>
          <p:nvPr/>
        </p:nvSpPr>
        <p:spPr>
          <a:xfrm>
            <a:off x="640080" y="5184648"/>
            <a:ext cx="457200" cy="457200"/>
          </a:xfrm>
          <a:prstGeom prst="ellipse">
            <a:avLst/>
          </a:prstGeom>
          <a:solidFill>
            <a:srgbClr val="1E2761"/>
          </a:solidFill>
          <a:ln/>
        </p:spPr>
      </p:sp>
      <p:sp>
        <p:nvSpPr>
          <p:cNvPr id="20" name="Text 18"/>
          <p:cNvSpPr/>
          <p:nvPr/>
        </p:nvSpPr>
        <p:spPr>
          <a:xfrm>
            <a:off x="640080" y="5184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Shape 19"/>
          <p:cNvSpPr/>
          <p:nvPr/>
        </p:nvSpPr>
        <p:spPr>
          <a:xfrm>
            <a:off x="1280160" y="5184648"/>
            <a:ext cx="10241280" cy="713232"/>
          </a:xfrm>
          <a:prstGeom prst="roundRect">
            <a:avLst>
              <a:gd name="adj" fmla="val 7692"/>
            </a:avLst>
          </a:prstGeom>
          <a:solidFill>
            <a:srgbClr val="EEF3FB"/>
          </a:solidFill>
          <a:ln w="6350">
            <a:solidFill>
              <a:srgbClr val="D9DEE8"/>
            </a:solidFill>
            <a:prstDash val="solid"/>
          </a:ln>
        </p:spPr>
      </p:sp>
      <p:sp>
        <p:nvSpPr>
          <p:cNvPr id="22" name="Text 20"/>
          <p:cNvSpPr/>
          <p:nvPr/>
        </p:nvSpPr>
        <p:spPr>
          <a:xfrm>
            <a:off x="1463040" y="5184648"/>
            <a:ext cx="9875520" cy="7132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Topic 4 — Politics    </a:t>
            </a:r>
            <a:pPr indent="0" marL="0">
              <a:buNone/>
            </a:pPr>
            <a:r>
              <a:rPr lang="en-US" sz="1200" dirty="0">
                <a:solidFill>
                  <a:srgbClr val="22262B"/>
                </a:solidFill>
                <a:latin typeface="Calibri" pitchFamily="34" charset="0"/>
                <a:ea typeface="Calibri" pitchFamily="34" charset="-122"/>
                <a:cs typeface="Calibri" pitchFamily="34" charset="-120"/>
              </a:rPr>
              <a:t>government, labour, party, election, people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Classification results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280160" y="1737360"/>
          <a:ext cx="9601200" cy="914400"/>
        </p:xfrm>
        <a:graphic>
          <a:graphicData uri="http://schemas.openxmlformats.org/drawingml/2006/table">
            <a:tbl>
              <a:tblPr/>
              <a:tblGrid>
                <a:gridCol w="3566160"/>
                <a:gridCol w="2011680"/>
                <a:gridCol w="2011680"/>
                <a:gridCol w="2011680"/>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CV accuracy</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1E2761"/>
                    </a:solidFill>
                  </a:tcPr>
                </a:tc>
              </a:tr>
              <a:tr h="603504">
                <a:tc>
                  <a:txBody>
                    <a:bodyPr/>
                    <a:lstStyle/>
                    <a:p>
                      <a:pPr algn="l" indent="0" marL="0">
                        <a:buNone/>
                      </a:pPr>
                      <a:r>
                        <a:rPr lang="en-US" sz="1300" b="1" dirty="0">
                          <a:solidFill>
                            <a:srgbClr val="22262B"/>
                          </a:solidFill>
                          <a:latin typeface="Calibri" pitchFamily="34" charset="0"/>
                          <a:ea typeface="Calibri" pitchFamily="34" charset="-122"/>
                          <a:cs typeface="Calibri" pitchFamily="34" charset="-120"/>
                        </a:rPr>
                        <a:t>Linear SVM</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DECDD"/>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0.972</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DECDD"/>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0.975</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DECDD"/>
                    </a:solidFill>
                  </a:tcPr>
                </a:tc>
                <a:tc>
                  <a:txBody>
                    <a:bodyPr/>
                    <a:lstStyle/>
                    <a:p>
                      <a:pPr algn="ctr" indent="0" marL="0">
                        <a:buNone/>
                      </a:pPr>
                      <a:r>
                        <a:rPr lang="en-US" sz="1300" b="1" dirty="0">
                          <a:solidFill>
                            <a:srgbClr val="22262B"/>
                          </a:solidFill>
                          <a:latin typeface="Calibri" pitchFamily="34" charset="0"/>
                          <a:ea typeface="Calibri" pitchFamily="34" charset="-122"/>
                          <a:cs typeface="Calibri" pitchFamily="34" charset="-120"/>
                        </a:rPr>
                        <a:t>0.975</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DECDD"/>
                    </a:solidFill>
                  </a:tcPr>
                </a:tc>
              </a:tr>
              <a:tr h="603504">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0.968</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0.970</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0.969</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r>
              <a:tr h="603504">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0.951</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0.948</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0.947</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FFFFF"/>
                    </a:solidFill>
                  </a:tcPr>
                </a:tc>
              </a:tr>
              <a:tr h="603504">
                <a:tc>
                  <a:txBody>
                    <a:bodyPr/>
                    <a:lstStyle/>
                    <a:p>
                      <a:pPr algn="l" indent="0" marL="0">
                        <a:buNone/>
                      </a:pPr>
                      <a:r>
                        <a:rPr lang="en-US" sz="1300" dirty="0">
                          <a:solidFill>
                            <a:srgbClr val="22262B"/>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0.945</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0.943</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62B"/>
                          </a:solidFill>
                          <a:latin typeface="Calibri" pitchFamily="34" charset="0"/>
                          <a:ea typeface="Calibri" pitchFamily="34" charset="-122"/>
                          <a:cs typeface="Calibri" pitchFamily="34" charset="-120"/>
                        </a:rPr>
                        <a:t>0.942</a:t>
                      </a:r>
                      <a:endParaRPr lang="en-US" sz="1300" dirty="0">
                        <a:latin typeface="Calibri" charset="0"/>
                        <a:ea typeface="Calibri" charset="0"/>
                        <a:cs typeface="Calibri" charset="0"/>
                      </a:endParaRPr>
                    </a:p>
                  </a:txBody>
                  <a:tcPr marL="91440" marR="91440" marT="45720" marB="45720" anchor="ctr">
                    <a:lnL w="6350" cap="flat" cmpd="sng" algn="ctr">
                      <a:solidFill>
                        <a:srgbClr val="DFE4EC"/>
                      </a:solidFill>
                      <a:prstDash val="solid"/>
                      <a:round/>
                      <a:headEnd type="none" w="med" len="med"/>
                      <a:tailEnd type="none" w="med" len="med"/>
                    </a:lnL>
                    <a:lnR w="6350" cap="flat" cmpd="sng" algn="ctr">
                      <a:solidFill>
                        <a:srgbClr val="DFE4EC"/>
                      </a:solidFill>
                      <a:prstDash val="solid"/>
                      <a:round/>
                      <a:headEnd type="none" w="med" len="med"/>
                      <a:tailEnd type="none" w="med" len="med"/>
                    </a:lnR>
                    <a:lnT w="6350" cap="flat" cmpd="sng" algn="ctr">
                      <a:solidFill>
                        <a:srgbClr val="DFE4EC"/>
                      </a:solidFill>
                      <a:prstDash val="solid"/>
                      <a:round/>
                      <a:headEnd type="none" w="med" len="med"/>
                      <a:tailEnd type="none" w="med" len="med"/>
                    </a:lnT>
                    <a:lnB w="6350" cap="flat" cmpd="sng" algn="ctr">
                      <a:solidFill>
                        <a:srgbClr val="DFE4EC"/>
                      </a:solidFill>
                      <a:prstDash val="solid"/>
                      <a:round/>
                      <a:headEnd type="none" w="med" len="med"/>
                      <a:tailEnd type="none" w="med" len="med"/>
                    </a:lnB>
                    <a:solidFill>
                      <a:srgbClr val="F4F6FA"/>
                    </a:solidFill>
                  </a:tcPr>
                </a:tc>
              </a:tr>
            </a:tbl>
          </a:graphicData>
        </a:graphic>
      </p:graphicFrame>
      <p:sp>
        <p:nvSpPr>
          <p:cNvPr id="4" name="Text 1"/>
          <p:cNvSpPr/>
          <p:nvPr/>
        </p:nvSpPr>
        <p:spPr>
          <a:xfrm>
            <a:off x="1280160" y="5120640"/>
            <a:ext cx="9601200" cy="5486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97.5% test accuracy, macro-F1 0.975. The only real confusions are politics and business articles that share vocabulary such as tax and economy.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Business value and use cases</a:t>
            </a:r>
            <a:endParaRPr lang="en-US" sz="3000" dirty="0"/>
          </a:p>
        </p:txBody>
      </p:sp>
      <p:sp>
        <p:nvSpPr>
          <p:cNvPr id="3" name="Shape 1"/>
          <p:cNvSpPr/>
          <p:nvPr/>
        </p:nvSpPr>
        <p:spPr>
          <a:xfrm>
            <a:off x="548640" y="1600200"/>
            <a:ext cx="5394960" cy="2103120"/>
          </a:xfrm>
          <a:prstGeom prst="roundRect">
            <a:avLst>
              <a:gd name="adj" fmla="val 3478"/>
            </a:avLst>
          </a:prstGeom>
          <a:solidFill>
            <a:srgbClr val="F4F6FA"/>
          </a:solidFill>
          <a:ln w="9525">
            <a:solidFill>
              <a:srgbClr val="D9DEE8"/>
            </a:solidFill>
            <a:prstDash val="solid"/>
          </a:ln>
        </p:spPr>
      </p:sp>
      <p:sp>
        <p:nvSpPr>
          <p:cNvPr id="4" name="Text 2"/>
          <p:cNvSpPr/>
          <p:nvPr/>
        </p:nvSpPr>
        <p:spPr>
          <a:xfrm>
            <a:off x="731520" y="173736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Corporate communications</a:t>
            </a:r>
            <a:endParaRPr lang="en-US" sz="1450" dirty="0"/>
          </a:p>
        </p:txBody>
      </p:sp>
      <p:sp>
        <p:nvSpPr>
          <p:cNvPr id="5" name="Text 3"/>
          <p:cNvSpPr/>
          <p:nvPr/>
        </p:nvSpPr>
        <p:spPr>
          <a:xfrm>
            <a:off x="731520" y="2167128"/>
            <a:ext cx="5029200" cy="141732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Monitor brand mentions and alert when sentiment turns negative, the moment that matters most.</a:t>
            </a:r>
            <a:endParaRPr lang="en-US" sz="1150" dirty="0"/>
          </a:p>
        </p:txBody>
      </p:sp>
      <p:sp>
        <p:nvSpPr>
          <p:cNvPr id="6" name="Shape 4"/>
          <p:cNvSpPr/>
          <p:nvPr/>
        </p:nvSpPr>
        <p:spPr>
          <a:xfrm>
            <a:off x="6217920" y="1600200"/>
            <a:ext cx="5394960" cy="2103120"/>
          </a:xfrm>
          <a:prstGeom prst="roundRect">
            <a:avLst>
              <a:gd name="adj" fmla="val 3478"/>
            </a:avLst>
          </a:prstGeom>
          <a:solidFill>
            <a:srgbClr val="EEF3FB"/>
          </a:solidFill>
          <a:ln w="9525">
            <a:solidFill>
              <a:srgbClr val="D9DEE8"/>
            </a:solidFill>
            <a:prstDash val="solid"/>
          </a:ln>
        </p:spPr>
      </p:sp>
      <p:sp>
        <p:nvSpPr>
          <p:cNvPr id="7" name="Text 5"/>
          <p:cNvSpPr/>
          <p:nvPr/>
        </p:nvSpPr>
        <p:spPr>
          <a:xfrm>
            <a:off x="6400800" y="173736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Investor relations and finance</a:t>
            </a:r>
            <a:endParaRPr lang="en-US" sz="1450" dirty="0"/>
          </a:p>
        </p:txBody>
      </p:sp>
      <p:sp>
        <p:nvSpPr>
          <p:cNvPr id="8" name="Text 6"/>
          <p:cNvSpPr/>
          <p:nvPr/>
        </p:nvSpPr>
        <p:spPr>
          <a:xfrm>
            <a:off x="6400800" y="2167128"/>
            <a:ext cx="5029200" cy="141732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Track how a company or sector is covered and surface the entities driving a story.</a:t>
            </a:r>
            <a:endParaRPr lang="en-US" sz="1150" dirty="0"/>
          </a:p>
        </p:txBody>
      </p:sp>
      <p:sp>
        <p:nvSpPr>
          <p:cNvPr id="9" name="Shape 7"/>
          <p:cNvSpPr/>
          <p:nvPr/>
        </p:nvSpPr>
        <p:spPr>
          <a:xfrm>
            <a:off x="548640" y="3886200"/>
            <a:ext cx="5394960" cy="2103120"/>
          </a:xfrm>
          <a:prstGeom prst="roundRect">
            <a:avLst>
              <a:gd name="adj" fmla="val 3478"/>
            </a:avLst>
          </a:prstGeom>
          <a:solidFill>
            <a:srgbClr val="EEF3FB"/>
          </a:solidFill>
          <a:ln w="9525">
            <a:solidFill>
              <a:srgbClr val="D9DEE8"/>
            </a:solidFill>
            <a:prstDash val="solid"/>
          </a:ln>
        </p:spPr>
      </p:sp>
      <p:sp>
        <p:nvSpPr>
          <p:cNvPr id="10" name="Text 8"/>
          <p:cNvSpPr/>
          <p:nvPr/>
        </p:nvSpPr>
        <p:spPr>
          <a:xfrm>
            <a:off x="731520" y="402336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Media and research teams</a:t>
            </a:r>
            <a:endParaRPr lang="en-US" sz="1450" dirty="0"/>
          </a:p>
        </p:txBody>
      </p:sp>
      <p:sp>
        <p:nvSpPr>
          <p:cNvPr id="11" name="Text 9"/>
          <p:cNvSpPr/>
          <p:nvPr/>
        </p:nvSpPr>
        <p:spPr>
          <a:xfrm>
            <a:off x="731520" y="4453128"/>
            <a:ext cx="5029200" cy="141732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Cluster a day's coverage into topics and pull the most relevant articles on demand.</a:t>
            </a:r>
            <a:endParaRPr lang="en-US" sz="1150" dirty="0"/>
          </a:p>
        </p:txBody>
      </p:sp>
      <p:sp>
        <p:nvSpPr>
          <p:cNvPr id="12" name="Shape 10"/>
          <p:cNvSpPr/>
          <p:nvPr/>
        </p:nvSpPr>
        <p:spPr>
          <a:xfrm>
            <a:off x="6217920" y="3886200"/>
            <a:ext cx="5394960" cy="2103120"/>
          </a:xfrm>
          <a:prstGeom prst="roundRect">
            <a:avLst>
              <a:gd name="adj" fmla="val 3478"/>
            </a:avLst>
          </a:prstGeom>
          <a:solidFill>
            <a:srgbClr val="F4F6FA"/>
          </a:solidFill>
          <a:ln w="9525">
            <a:solidFill>
              <a:srgbClr val="D9DEE8"/>
            </a:solidFill>
            <a:prstDash val="solid"/>
          </a:ln>
        </p:spPr>
      </p:sp>
      <p:sp>
        <p:nvSpPr>
          <p:cNvPr id="13" name="Text 11"/>
          <p:cNvSpPr/>
          <p:nvPr/>
        </p:nvSpPr>
        <p:spPr>
          <a:xfrm>
            <a:off x="6400800" y="4023360"/>
            <a:ext cx="5029200" cy="365760"/>
          </a:xfrm>
          <a:prstGeom prst="rect">
            <a:avLst/>
          </a:prstGeom>
          <a:noFill/>
          <a:ln/>
        </p:spPr>
        <p:txBody>
          <a:bodyPr wrap="square" lIns="0" tIns="0" rIns="0" bIns="0" rtlCol="0" anchor="ctr"/>
          <a:lstStyle/>
          <a:p>
            <a:pPr algn="l" indent="0" marL="0">
              <a:buNone/>
            </a:pPr>
            <a:r>
              <a:rPr lang="en-US" sz="1450" b="1" dirty="0">
                <a:solidFill>
                  <a:srgbClr val="1E2761"/>
                </a:solidFill>
                <a:latin typeface="Calibri" pitchFamily="34" charset="0"/>
                <a:ea typeface="Calibri" pitchFamily="34" charset="-122"/>
                <a:cs typeface="Calibri" pitchFamily="34" charset="-120"/>
              </a:rPr>
              <a:t>Multilingual monitoring</a:t>
            </a:r>
            <a:endParaRPr lang="en-US" sz="1450" dirty="0"/>
          </a:p>
        </p:txBody>
      </p:sp>
      <p:sp>
        <p:nvSpPr>
          <p:cNvPr id="14" name="Text 12"/>
          <p:cNvSpPr/>
          <p:nvPr/>
        </p:nvSpPr>
        <p:spPr>
          <a:xfrm>
            <a:off x="6400800" y="4453128"/>
            <a:ext cx="5029200" cy="1417320"/>
          </a:xfrm>
          <a:prstGeom prst="rect">
            <a:avLst/>
          </a:prstGeom>
          <a:noFill/>
          <a:ln/>
        </p:spPr>
        <p:txBody>
          <a:bodyPr wrap="square" lIns="0" tIns="0" rIns="0" bIns="0" rtlCol="0" anchor="t"/>
          <a:lstStyle/>
          <a:p>
            <a:pPr algn="l" indent="0" marL="0">
              <a:lnSpc>
                <a:spcPct val="105000"/>
              </a:lnSpc>
              <a:buNone/>
            </a:pPr>
            <a:r>
              <a:rPr lang="en-US" sz="1150" dirty="0">
                <a:solidFill>
                  <a:srgbClr val="22262B"/>
                </a:solidFill>
                <a:latin typeface="Calibri" pitchFamily="34" charset="0"/>
                <a:ea typeface="Calibri" pitchFamily="34" charset="-122"/>
                <a:cs typeface="Calibri" pitchFamily="34" charset="-120"/>
              </a:rPr>
              <a:t>Detect and translate non-English coverage into the same analysis pipeline.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Honest limitations</a:t>
            </a:r>
            <a:endParaRPr lang="en-US" sz="3000" dirty="0"/>
          </a:p>
        </p:txBody>
      </p:sp>
      <p:sp>
        <p:nvSpPr>
          <p:cNvPr id="3" name="Shape 1"/>
          <p:cNvSpPr/>
          <p:nvPr/>
        </p:nvSpPr>
        <p:spPr>
          <a:xfrm>
            <a:off x="640080" y="1737360"/>
            <a:ext cx="457200" cy="457200"/>
          </a:xfrm>
          <a:prstGeom prst="ellipse">
            <a:avLst/>
          </a:prstGeom>
          <a:solidFill>
            <a:srgbClr val="1E2761"/>
          </a:solidFill>
          <a:ln/>
        </p:spPr>
      </p:sp>
      <p:sp>
        <p:nvSpPr>
          <p:cNvPr id="4" name="Text 2"/>
          <p:cNvSpPr/>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1325880" y="1737360"/>
            <a:ext cx="10241280" cy="640080"/>
          </a:xfrm>
          <a:prstGeom prst="rect">
            <a:avLst/>
          </a:prstGeom>
          <a:noFill/>
          <a:ln/>
        </p:spPr>
        <p:txBody>
          <a:bodyPr wrap="square" lIns="0" tIns="0" rIns="0" bIns="0" rtlCol="0" anchor="ctr"/>
          <a:lstStyle/>
          <a:p>
            <a:pPr indent="0" marL="0">
              <a:buNone/>
            </a:pPr>
            <a:r>
              <a:rPr lang="en-US" sz="1400" dirty="0">
                <a:solidFill>
                  <a:srgbClr val="22262B"/>
                </a:solidFill>
                <a:latin typeface="Calibri" pitchFamily="34" charset="0"/>
                <a:ea typeface="Calibri" pitchFamily="34" charset="-122"/>
                <a:cs typeface="Calibri" pitchFamily="34" charset="-120"/>
              </a:rPr>
              <a:t>Trained on 2004-2005 BBC news, so it is weaker on messy present-day text.</a:t>
            </a:r>
            <a:endParaRPr lang="en-US" sz="1400" dirty="0"/>
          </a:p>
        </p:txBody>
      </p:sp>
      <p:sp>
        <p:nvSpPr>
          <p:cNvPr id="6" name="Shape 4"/>
          <p:cNvSpPr/>
          <p:nvPr/>
        </p:nvSpPr>
        <p:spPr>
          <a:xfrm>
            <a:off x="640080" y="2697480"/>
            <a:ext cx="457200" cy="457200"/>
          </a:xfrm>
          <a:prstGeom prst="ellipse">
            <a:avLst/>
          </a:prstGeom>
          <a:solidFill>
            <a:srgbClr val="1E2761"/>
          </a:solidFill>
          <a:ln/>
        </p:spPr>
      </p:sp>
      <p:sp>
        <p:nvSpPr>
          <p:cNvPr id="7" name="Text 5"/>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325880" y="2697480"/>
            <a:ext cx="10241280" cy="640080"/>
          </a:xfrm>
          <a:prstGeom prst="rect">
            <a:avLst/>
          </a:prstGeom>
          <a:noFill/>
          <a:ln/>
        </p:spPr>
        <p:txBody>
          <a:bodyPr wrap="square" lIns="0" tIns="0" rIns="0" bIns="0" rtlCol="0" anchor="ctr"/>
          <a:lstStyle/>
          <a:p>
            <a:pPr indent="0" marL="0">
              <a:buNone/>
            </a:pPr>
            <a:r>
              <a:rPr lang="en-US" sz="1400" dirty="0">
                <a:solidFill>
                  <a:srgbClr val="22262B"/>
                </a:solidFill>
                <a:latin typeface="Calibri" pitchFamily="34" charset="0"/>
                <a:ea typeface="Calibri" pitchFamily="34" charset="-122"/>
                <a:cs typeface="Calibri" pitchFamily="34" charset="-120"/>
              </a:rPr>
              <a:t>Lexicon sentiment misreads financial framing and can score a profit warning as positive.</a:t>
            </a:r>
            <a:endParaRPr lang="en-US" sz="1400" dirty="0"/>
          </a:p>
        </p:txBody>
      </p:sp>
      <p:sp>
        <p:nvSpPr>
          <p:cNvPr id="9" name="Shape 7"/>
          <p:cNvSpPr/>
          <p:nvPr/>
        </p:nvSpPr>
        <p:spPr>
          <a:xfrm>
            <a:off x="640080" y="3657600"/>
            <a:ext cx="457200" cy="457200"/>
          </a:xfrm>
          <a:prstGeom prst="ellipse">
            <a:avLst/>
          </a:prstGeom>
          <a:solidFill>
            <a:srgbClr val="1E2761"/>
          </a:solidFill>
          <a:ln/>
        </p:spPr>
      </p:sp>
      <p:sp>
        <p:nvSpPr>
          <p:cNvPr id="10" name="Text 8"/>
          <p:cNvSpPr/>
          <p:nvPr/>
        </p:nvSpPr>
        <p:spPr>
          <a:xfrm>
            <a:off x="64008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325880" y="3657600"/>
            <a:ext cx="10241280" cy="640080"/>
          </a:xfrm>
          <a:prstGeom prst="rect">
            <a:avLst/>
          </a:prstGeom>
          <a:noFill/>
          <a:ln/>
        </p:spPr>
        <p:txBody>
          <a:bodyPr wrap="square" lIns="0" tIns="0" rIns="0" bIns="0" rtlCol="0" anchor="ctr"/>
          <a:lstStyle/>
          <a:p>
            <a:pPr indent="0" marL="0">
              <a:buNone/>
            </a:pPr>
            <a:r>
              <a:rPr lang="en-US" sz="1400" dirty="0">
                <a:solidFill>
                  <a:srgbClr val="22262B"/>
                </a:solidFill>
                <a:latin typeface="Calibri" pitchFamily="34" charset="0"/>
                <a:ea typeface="Calibri" pitchFamily="34" charset="-122"/>
                <a:cs typeface="Calibri" pitchFamily="34" charset="-120"/>
              </a:rPr>
              <a:t>The small spaCy model makes occasional NER errors on modern names.</a:t>
            </a:r>
            <a:endParaRPr lang="en-US" sz="1400" dirty="0"/>
          </a:p>
        </p:txBody>
      </p:sp>
      <p:sp>
        <p:nvSpPr>
          <p:cNvPr id="12" name="Shape 10"/>
          <p:cNvSpPr/>
          <p:nvPr/>
        </p:nvSpPr>
        <p:spPr>
          <a:xfrm>
            <a:off x="640080" y="4617720"/>
            <a:ext cx="457200" cy="457200"/>
          </a:xfrm>
          <a:prstGeom prst="ellipse">
            <a:avLst/>
          </a:prstGeom>
          <a:solidFill>
            <a:srgbClr val="1E2761"/>
          </a:solidFill>
          <a:ln/>
        </p:spPr>
      </p:sp>
      <p:sp>
        <p:nvSpPr>
          <p:cNvPr id="13" name="Text 11"/>
          <p:cNvSpPr/>
          <p:nvPr/>
        </p:nvSpPr>
        <p:spPr>
          <a:xfrm>
            <a:off x="64008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325880" y="4617720"/>
            <a:ext cx="10241280" cy="640080"/>
          </a:xfrm>
          <a:prstGeom prst="rect">
            <a:avLst/>
          </a:prstGeom>
          <a:noFill/>
          <a:ln/>
        </p:spPr>
        <p:txBody>
          <a:bodyPr wrap="square" lIns="0" tIns="0" rIns="0" bIns="0" rtlCol="0" anchor="ctr"/>
          <a:lstStyle/>
          <a:p>
            <a:pPr indent="0" marL="0">
              <a:buNone/>
            </a:pPr>
            <a:r>
              <a:rPr lang="en-US" sz="1400" dirty="0">
                <a:solidFill>
                  <a:srgbClr val="22262B"/>
                </a:solidFill>
                <a:latin typeface="Calibri" pitchFamily="34" charset="0"/>
                <a:ea typeface="Calibri" pitchFamily="34" charset="-122"/>
                <a:cs typeface="Calibri" pitchFamily="34" charset="-120"/>
              </a:rPr>
              <a:t>Translation quality depends on a free backend and a network connection.</a:t>
            </a:r>
            <a:endParaRPr lang="en-US" sz="1400" dirty="0"/>
          </a:p>
        </p:txBody>
      </p:sp>
      <p:sp>
        <p:nvSpPr>
          <p:cNvPr id="15" name="Text 13"/>
          <p:cNvSpPr/>
          <p:nvPr/>
        </p:nvSpPr>
        <p:spPr>
          <a:xfrm>
            <a:off x="640080" y="5715000"/>
            <a:ext cx="10972800" cy="365760"/>
          </a:xfrm>
          <a:prstGeom prst="rect">
            <a:avLst/>
          </a:prstGeom>
          <a:noFill/>
          <a:ln/>
        </p:spPr>
        <p:txBody>
          <a:bodyPr wrap="square" lIns="0" tIns="0" rIns="0" bIns="0" rtlCol="0" anchor="ctr"/>
          <a:lstStyle/>
          <a:p>
            <a:pPr indent="0" marL="0">
              <a:buNone/>
            </a:pPr>
            <a:r>
              <a:rPr lang="en-US" sz="1200" i="1" dirty="0">
                <a:solidFill>
                  <a:srgbClr val="5F6B7A"/>
                </a:solidFill>
                <a:latin typeface="Calibri" pitchFamily="34" charset="0"/>
                <a:ea typeface="Calibri" pitchFamily="34" charset="-122"/>
                <a:cs typeface="Calibri" pitchFamily="34" charset="-120"/>
              </a:rPr>
              <a:t>Stating limits plainly is the point. Trustworthy tooling depends on knowing where it is wrong.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188720" y="4389120"/>
            <a:ext cx="3840480" cy="3840480"/>
          </a:xfrm>
          <a:prstGeom prst="ellipse">
            <a:avLst/>
          </a:prstGeom>
          <a:solidFill>
            <a:srgbClr val="27306E"/>
          </a:solidFill>
          <a:ln/>
        </p:spPr>
      </p:sp>
      <p:sp>
        <p:nvSpPr>
          <p:cNvPr id="3" name="Text 1"/>
          <p:cNvSpPr/>
          <p:nvPr/>
        </p:nvSpPr>
        <p:spPr>
          <a:xfrm>
            <a:off x="731520" y="64008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Future work</a:t>
            </a:r>
            <a:endParaRPr lang="en-US" sz="3000" dirty="0"/>
          </a:p>
        </p:txBody>
      </p:sp>
      <p:sp>
        <p:nvSpPr>
          <p:cNvPr id="4" name="Text 2"/>
          <p:cNvSpPr/>
          <p:nvPr/>
        </p:nvSpPr>
        <p:spPr>
          <a:xfrm>
            <a:off x="822960" y="1554480"/>
            <a:ext cx="105156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  Replace lexicon sentiment with a finance-tuned model such as FinBERT</a:t>
            </a:r>
            <a:endParaRPr lang="en-US" sz="1500" dirty="0"/>
          </a:p>
        </p:txBody>
      </p:sp>
      <p:sp>
        <p:nvSpPr>
          <p:cNvPr id="5" name="Text 3"/>
          <p:cNvSpPr/>
          <p:nvPr/>
        </p:nvSpPr>
        <p:spPr>
          <a:xfrm>
            <a:off x="822960" y="2121408"/>
            <a:ext cx="105156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  Fine-tune the entity recognizer on recent news</a:t>
            </a:r>
            <a:endParaRPr lang="en-US" sz="1500" dirty="0"/>
          </a:p>
        </p:txBody>
      </p:sp>
      <p:sp>
        <p:nvSpPr>
          <p:cNvPr id="6" name="Text 4"/>
          <p:cNvSpPr/>
          <p:nvPr/>
        </p:nvSpPr>
        <p:spPr>
          <a:xfrm>
            <a:off x="822960" y="2688336"/>
            <a:ext cx="105156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  Add topic modeling over time to track themes</a:t>
            </a:r>
            <a:endParaRPr lang="en-US" sz="1500" dirty="0"/>
          </a:p>
        </p:txBody>
      </p:sp>
      <p:sp>
        <p:nvSpPr>
          <p:cNvPr id="7" name="Text 5"/>
          <p:cNvSpPr/>
          <p:nvPr/>
        </p:nvSpPr>
        <p:spPr>
          <a:xfrm>
            <a:off x="822960" y="3255264"/>
            <a:ext cx="105156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  Deploy the web app to a public URL, add batch upload and caching</a:t>
            </a:r>
            <a:endParaRPr lang="en-US" sz="1500" dirty="0"/>
          </a:p>
        </p:txBody>
      </p:sp>
      <p:sp>
        <p:nvSpPr>
          <p:cNvPr id="8" name="Text 6"/>
          <p:cNvSpPr/>
          <p:nvPr/>
        </p:nvSpPr>
        <p:spPr>
          <a:xfrm>
            <a:off x="822960" y="3822192"/>
            <a:ext cx="105156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  Explore bias detection and simple fact-checking</a:t>
            </a:r>
            <a:endParaRPr lang="en-US" sz="1500" dirty="0"/>
          </a:p>
        </p:txBody>
      </p:sp>
      <p:sp>
        <p:nvSpPr>
          <p:cNvPr id="9" name="Text 7"/>
          <p:cNvSpPr/>
          <p:nvPr/>
        </p:nvSpPr>
        <p:spPr>
          <a:xfrm>
            <a:off x="822960" y="475488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0" name="Text 8"/>
          <p:cNvSpPr/>
          <p:nvPr/>
        </p:nvSpPr>
        <p:spPr>
          <a:xfrm>
            <a:off x="822960" y="5577840"/>
            <a:ext cx="10515600" cy="365760"/>
          </a:xfrm>
          <a:prstGeom prst="rect">
            <a:avLst/>
          </a:prstGeom>
          <a:noFill/>
          <a:ln/>
        </p:spPr>
        <p:txBody>
          <a:bodyPr wrap="square" lIns="0" tIns="0" rIns="0" bIns="0" rtlCol="0" anchor="ctr"/>
          <a:lstStyle/>
          <a:p>
            <a:pPr indent="0" marL="0">
              <a:buNone/>
            </a:pPr>
            <a:r>
              <a:rPr lang="en-US" sz="1200" dirty="0">
                <a:solidFill>
                  <a:srgbClr val="F97316"/>
                </a:solidFill>
                <a:latin typeface="Calibri" pitchFamily="34" charset="0"/>
                <a:ea typeface="Calibri" pitchFamily="34" charset="-122"/>
                <a:cs typeface="Calibri" pitchFamily="34" charset="-120"/>
              </a:rPr>
              <a:t>Trilok Kalani   |   ITAI 2373   |   github.com/Tikskalani/ITAI2373-Portfolio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2026-08-07T04:01:19Z</dcterms:created>
  <dcterms:modified xsi:type="dcterms:W3CDTF">2026-08-07T04:01:19Z</dcterms:modified>
</cp:coreProperties>
</file>